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6" r:id="rId2"/>
    <p:sldId id="273" r:id="rId3"/>
    <p:sldId id="274" r:id="rId4"/>
    <p:sldId id="275" r:id="rId5"/>
    <p:sldId id="259" r:id="rId6"/>
    <p:sldId id="276" r:id="rId7"/>
    <p:sldId id="261" r:id="rId8"/>
    <p:sldId id="262" r:id="rId9"/>
    <p:sldId id="260" r:id="rId10"/>
    <p:sldId id="257" r:id="rId11"/>
    <p:sldId id="271" r:id="rId12"/>
    <p:sldId id="268" r:id="rId13"/>
    <p:sldId id="269" r:id="rId14"/>
    <p:sldId id="265" r:id="rId15"/>
    <p:sldId id="267" r:id="rId16"/>
    <p:sldId id="266" r:id="rId17"/>
    <p:sldId id="270" r:id="rId18"/>
    <p:sldId id="277" r:id="rId19"/>
    <p:sldId id="278" r:id="rId20"/>
    <p:sldId id="279" r:id="rId21"/>
    <p:sldId id="280" r:id="rId22"/>
    <p:sldId id="264" r:id="rId23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ab716" initials="l" lastIdx="1" clrIdx="0"/>
  <p:cmAuthor id="1" name="Lab716" initials="L" lastIdx="1" clrIdx="1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3399FF"/>
    <a:srgbClr val="333399"/>
    <a:srgbClr val="005E88"/>
    <a:srgbClr val="008000"/>
    <a:srgbClr val="00789C"/>
    <a:srgbClr val="009999"/>
    <a:srgbClr val="3080E0"/>
    <a:srgbClr val="0099C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EBBBCC-DAD2-459C-BE2E-F6DE35CF9A28}" styleName="深色樣式 2 - 輔色 3/輔色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AF606853-7671-496A-8E4F-DF71F8EC918B}" styleName="深色樣式 1 - 輔色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505E3EF-67EA-436B-97B2-0124C06EBD24}" styleName="中等深淺樣式 4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7" autoAdjust="0"/>
    <p:restoredTop sz="87273" autoAdjust="0"/>
  </p:normalViewPr>
  <p:slideViewPr>
    <p:cSldViewPr>
      <p:cViewPr varScale="1">
        <p:scale>
          <a:sx n="123" d="100"/>
          <a:sy n="123" d="100"/>
        </p:scale>
        <p:origin x="678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7" d="100"/>
          <a:sy n="87" d="100"/>
        </p:scale>
        <p:origin x="-382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23291A-1882-4E55-AD5A-DD747D7B4A3B}" type="datetimeFigureOut">
              <a:rPr lang="zh-TW" altLang="en-US" smtClean="0"/>
              <a:pPr/>
              <a:t>2018/5/28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270501-02BF-4915-8E11-E4F6D5FF0CF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110748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31A9DC-B7EA-4A79-BC2A-F40EED0229FF}" type="datetimeFigureOut">
              <a:rPr lang="zh-TW" altLang="en-US" smtClean="0"/>
              <a:pPr/>
              <a:t>2018/5/28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DCEB96-360B-494E-8ADE-1EF16DFFBB4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958753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Copyright © 2014 NCHU</a:t>
            </a:r>
            <a:r>
              <a:rPr lang="zh-TW" altLang="en-US" dirty="0" smtClean="0"/>
              <a:t> </a:t>
            </a:r>
            <a:r>
              <a:rPr lang="en-US" altLang="zh-TW" dirty="0" smtClean="0"/>
              <a:t>EE</a:t>
            </a:r>
            <a:r>
              <a:rPr lang="zh-TW" altLang="en-US" dirty="0" smtClean="0"/>
              <a:t> </a:t>
            </a:r>
            <a:r>
              <a:rPr lang="en-US" altLang="zh-TW" dirty="0" smtClean="0"/>
              <a:t>LAB716. All rights reserved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DCEB96-360B-494E-8ADE-1EF16DFFBB4C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5450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468" y="-27384"/>
            <a:ext cx="9240594" cy="6919377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1925960" y="6608385"/>
            <a:ext cx="552636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1200" b="0" dirty="0" smtClean="0">
                <a:latin typeface="Times New Roman" pitchFamily="18" charset="0"/>
                <a:cs typeface="Times New Roman" pitchFamily="18" charset="0"/>
              </a:rPr>
              <a:t>NCHU</a:t>
            </a:r>
            <a:r>
              <a:rPr lang="zh-TW" altLang="en-US" sz="1200" b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1200" b="0" dirty="0" smtClean="0">
                <a:latin typeface="Times New Roman" pitchFamily="18" charset="0"/>
                <a:cs typeface="Times New Roman" pitchFamily="18" charset="0"/>
              </a:rPr>
              <a:t>EE</a:t>
            </a:r>
            <a:r>
              <a:rPr lang="zh-TW" altLang="en-US" sz="1200" b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1200" b="0" dirty="0" smtClean="0">
                <a:latin typeface="Times New Roman" pitchFamily="18" charset="0"/>
                <a:cs typeface="Times New Roman" pitchFamily="18" charset="0"/>
              </a:rPr>
              <a:t>LAB716</a:t>
            </a:r>
            <a:endParaRPr lang="zh-TW" altLang="en-US" sz="1200" b="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62056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物件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395536" y="116632"/>
            <a:ext cx="7416824" cy="648072"/>
          </a:xfrm>
        </p:spPr>
        <p:txBody>
          <a:bodyPr>
            <a:normAutofit/>
          </a:bodyPr>
          <a:lstStyle>
            <a:lvl1pPr algn="l">
              <a:defRPr sz="3200" b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TW" altLang="en-US" dirty="0" smtClean="0"/>
              <a:t>一、標題</a:t>
            </a:r>
            <a:endParaRPr lang="zh-TW" altLang="en-US" dirty="0"/>
          </a:p>
        </p:txBody>
      </p:sp>
      <p:sp>
        <p:nvSpPr>
          <p:cNvPr id="8" name="內容版面配置區 2"/>
          <p:cNvSpPr>
            <a:spLocks noGrp="1"/>
          </p:cNvSpPr>
          <p:nvPr>
            <p:ph sz="half" idx="1"/>
          </p:nvPr>
        </p:nvSpPr>
        <p:spPr>
          <a:xfrm>
            <a:off x="467544" y="980728"/>
            <a:ext cx="8352928" cy="5184576"/>
          </a:xfrm>
        </p:spPr>
        <p:txBody>
          <a:bodyPr/>
          <a:lstStyle>
            <a:lvl1pPr marL="342900" indent="-342900">
              <a:buFontTx/>
              <a:buBlip>
                <a:blip r:embed="rId2"/>
              </a:buBlip>
              <a:defRPr lang="zh-TW" altLang="en-US" sz="2800" kern="1200" dirty="0" smtClean="0">
                <a:solidFill>
                  <a:srgbClr val="0099CC"/>
                </a:solidFill>
                <a:latin typeface="+mj-ea"/>
                <a:ea typeface="+mj-ea"/>
                <a:cs typeface="+mn-cs"/>
              </a:defRPr>
            </a:lvl1pPr>
            <a:lvl2pPr>
              <a:defRPr lang="zh-TW" altLang="en-US" sz="24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+mn-cs"/>
              </a:defRPr>
            </a:lvl2pPr>
            <a:lvl3pPr marL="1144588" indent="-342900">
              <a:defRPr lang="zh-TW" altLang="en-US" sz="2000" kern="1200" dirty="0" smtClean="0">
                <a:solidFill>
                  <a:srgbClr val="00B0F0"/>
                </a:solidFill>
                <a:latin typeface="+mj-ea"/>
                <a:ea typeface="+mj-ea"/>
                <a:cs typeface="+mn-cs"/>
              </a:defRPr>
            </a:lvl3pPr>
            <a:lvl4pPr>
              <a:defRPr lang="zh-TW" altLang="en-US" sz="1800" kern="1200" dirty="0" smtClean="0">
                <a:solidFill>
                  <a:srgbClr val="00B050"/>
                </a:solidFill>
                <a:latin typeface="+mj-ea"/>
                <a:ea typeface="+mj-ea"/>
                <a:cs typeface="+mn-cs"/>
              </a:defRPr>
            </a:lvl4pPr>
            <a:lvl5pPr>
              <a:defRPr lang="en-US" altLang="zh-TW" sz="1800" kern="1200" dirty="0" smtClean="0">
                <a:solidFill>
                  <a:schemeClr val="tx2">
                    <a:lumMod val="50000"/>
                    <a:lumOff val="50000"/>
                  </a:schemeClr>
                </a:solidFill>
                <a:latin typeface="+mj-ea"/>
                <a:ea typeface="+mj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marL="1030288" lvl="2" indent="-228600" algn="l" defTabSz="914400" rtl="0" eaLnBrk="1" latinLnBrk="0" hangingPunct="1">
              <a:lnSpc>
                <a:spcPct val="100000"/>
              </a:lnSpc>
              <a:spcBef>
                <a:spcPct val="25000"/>
              </a:spcBef>
              <a:buFont typeface="Arial" pitchFamily="34" charset="0"/>
              <a:buChar char="•"/>
            </a:pPr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en-US" altLang="zh-TW" dirty="0" smtClean="0"/>
          </a:p>
          <a:p>
            <a:pPr lvl="0"/>
            <a:endParaRPr lang="zh-TW" altLang="en-US" dirty="0"/>
          </a:p>
        </p:txBody>
      </p:sp>
      <p:sp>
        <p:nvSpPr>
          <p:cNvPr id="4" name="矩形 3"/>
          <p:cNvSpPr/>
          <p:nvPr userDrawn="1"/>
        </p:nvSpPr>
        <p:spPr>
          <a:xfrm>
            <a:off x="1925960" y="6525344"/>
            <a:ext cx="552636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1200" b="0" dirty="0" smtClean="0">
                <a:latin typeface="Times New Roman" pitchFamily="18" charset="0"/>
                <a:cs typeface="Times New Roman" pitchFamily="18" charset="0"/>
              </a:rPr>
              <a:t>NCHU</a:t>
            </a:r>
            <a:r>
              <a:rPr lang="zh-TW" altLang="en-US" sz="1200" b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1200" b="0" dirty="0" smtClean="0">
                <a:latin typeface="Times New Roman" pitchFamily="18" charset="0"/>
                <a:cs typeface="Times New Roman" pitchFamily="18" charset="0"/>
              </a:rPr>
              <a:t>EE</a:t>
            </a:r>
            <a:r>
              <a:rPr lang="zh-TW" altLang="en-US" sz="1200" b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1200" b="0" dirty="0" smtClean="0">
                <a:latin typeface="Times New Roman" pitchFamily="18" charset="0"/>
                <a:cs typeface="Times New Roman" pitchFamily="18" charset="0"/>
              </a:rPr>
              <a:t>LAB716</a:t>
            </a:r>
            <a:endParaRPr lang="zh-TW" altLang="en-US" sz="1200" b="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19937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5301208"/>
            <a:ext cx="8027169" cy="755799"/>
          </a:xfrm>
        </p:spPr>
        <p:txBody>
          <a:bodyPr anchor="t"/>
          <a:lstStyle>
            <a:lvl1pPr algn="l">
              <a:defRPr sz="4000" b="1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4" name="內容版面配置區 2"/>
          <p:cNvSpPr>
            <a:spLocks noGrp="1"/>
          </p:cNvSpPr>
          <p:nvPr>
            <p:ph sz="half" idx="1"/>
          </p:nvPr>
        </p:nvSpPr>
        <p:spPr>
          <a:xfrm>
            <a:off x="467544" y="980728"/>
            <a:ext cx="8064896" cy="4176464"/>
          </a:xfrm>
        </p:spPr>
        <p:txBody>
          <a:bodyPr/>
          <a:lstStyle>
            <a:lvl1pPr marL="342900" indent="-342900">
              <a:buFontTx/>
              <a:buBlip>
                <a:blip r:embed="rId2"/>
              </a:buBlip>
              <a:defRPr lang="zh-TW" altLang="en-US" sz="2800" kern="1200" dirty="0" smtClean="0">
                <a:solidFill>
                  <a:srgbClr val="0099CC"/>
                </a:solidFill>
                <a:latin typeface="+mj-ea"/>
                <a:ea typeface="+mj-ea"/>
                <a:cs typeface="+mn-cs"/>
              </a:defRPr>
            </a:lvl1pPr>
            <a:lvl2pPr>
              <a:defRPr lang="zh-TW" altLang="en-US" sz="2400" kern="1200" dirty="0" smtClean="0">
                <a:solidFill>
                  <a:srgbClr val="0070C0"/>
                </a:solidFill>
                <a:latin typeface="+mj-ea"/>
                <a:ea typeface="+mj-ea"/>
                <a:cs typeface="+mn-cs"/>
              </a:defRPr>
            </a:lvl2pPr>
            <a:lvl3pPr marL="1144588" indent="-342900">
              <a:defRPr lang="zh-TW" altLang="en-US" sz="2000" kern="1200" dirty="0" smtClean="0">
                <a:solidFill>
                  <a:srgbClr val="00B0F0"/>
                </a:solidFill>
                <a:latin typeface="+mj-ea"/>
                <a:ea typeface="+mj-ea"/>
                <a:cs typeface="+mn-cs"/>
              </a:defRPr>
            </a:lvl3pPr>
            <a:lvl4pPr>
              <a:defRPr lang="zh-TW" altLang="en-US" sz="1800" kern="1200" dirty="0" smtClean="0">
                <a:solidFill>
                  <a:srgbClr val="00B050"/>
                </a:solidFill>
                <a:latin typeface="+mj-ea"/>
                <a:ea typeface="+mj-ea"/>
                <a:cs typeface="+mn-cs"/>
              </a:defRPr>
            </a:lvl4pPr>
            <a:lvl5pPr>
              <a:defRPr lang="en-US" altLang="zh-TW" sz="1800" kern="1200" dirty="0" smtClean="0">
                <a:solidFill>
                  <a:schemeClr val="tx2">
                    <a:lumMod val="50000"/>
                    <a:lumOff val="50000"/>
                  </a:schemeClr>
                </a:solidFill>
                <a:latin typeface="+mj-ea"/>
                <a:ea typeface="+mj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marL="1030288" lvl="2" indent="-228600" algn="l" defTabSz="914400" rtl="0" eaLnBrk="1" latinLnBrk="0" hangingPunct="1">
              <a:lnSpc>
                <a:spcPct val="100000"/>
              </a:lnSpc>
              <a:spcBef>
                <a:spcPct val="25000"/>
              </a:spcBef>
              <a:buFont typeface="Arial" pitchFamily="34" charset="0"/>
              <a:buChar char="•"/>
            </a:pPr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en-US" altLang="zh-TW" dirty="0" smtClean="0"/>
          </a:p>
          <a:p>
            <a:pPr lvl="0"/>
            <a:endParaRPr lang="zh-TW" altLang="en-US" dirty="0"/>
          </a:p>
        </p:txBody>
      </p:sp>
      <p:sp>
        <p:nvSpPr>
          <p:cNvPr id="5" name="矩形 4"/>
          <p:cNvSpPr/>
          <p:nvPr userDrawn="1"/>
        </p:nvSpPr>
        <p:spPr>
          <a:xfrm>
            <a:off x="1925960" y="6608385"/>
            <a:ext cx="552636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1200" b="0" dirty="0" smtClean="0">
                <a:latin typeface="Times New Roman" pitchFamily="18" charset="0"/>
                <a:cs typeface="Times New Roman" pitchFamily="18" charset="0"/>
              </a:rPr>
              <a:t>Copyright © 2014 NCHU</a:t>
            </a:r>
            <a:r>
              <a:rPr lang="zh-TW" altLang="en-US" sz="1200" b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1200" b="0" dirty="0" smtClean="0">
                <a:latin typeface="Times New Roman" pitchFamily="18" charset="0"/>
                <a:cs typeface="Times New Roman" pitchFamily="18" charset="0"/>
              </a:rPr>
              <a:t>EE</a:t>
            </a:r>
            <a:r>
              <a:rPr lang="zh-TW" altLang="en-US" sz="1200" b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1200" b="0" dirty="0" smtClean="0">
                <a:latin typeface="Times New Roman" pitchFamily="18" charset="0"/>
                <a:cs typeface="Times New Roman" pitchFamily="18" charset="0"/>
              </a:rPr>
              <a:t>LAB716. All rights reserved</a:t>
            </a:r>
            <a:endParaRPr lang="zh-TW" altLang="en-US" sz="1200" b="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76922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內容版面配置區 2"/>
          <p:cNvSpPr>
            <a:spLocks noGrp="1"/>
          </p:cNvSpPr>
          <p:nvPr>
            <p:ph sz="half" idx="10"/>
          </p:nvPr>
        </p:nvSpPr>
        <p:spPr>
          <a:xfrm>
            <a:off x="395536" y="908720"/>
            <a:ext cx="4104456" cy="5256584"/>
          </a:xfrm>
        </p:spPr>
        <p:txBody>
          <a:bodyPr/>
          <a:lstStyle>
            <a:lvl1pPr marL="342900" indent="-342900">
              <a:buFontTx/>
              <a:buBlip>
                <a:blip r:embed="rId2"/>
              </a:buBlip>
              <a:defRPr lang="zh-TW" altLang="en-US" sz="2800" kern="1200" dirty="0" smtClean="0">
                <a:solidFill>
                  <a:srgbClr val="0099CC"/>
                </a:solidFill>
                <a:latin typeface="+mj-ea"/>
                <a:ea typeface="+mj-ea"/>
                <a:cs typeface="+mn-cs"/>
              </a:defRPr>
            </a:lvl1pPr>
            <a:lvl2pPr>
              <a:defRPr lang="zh-TW" altLang="en-US" sz="2400" kern="1200" dirty="0" smtClean="0">
                <a:solidFill>
                  <a:srgbClr val="0070C0"/>
                </a:solidFill>
                <a:latin typeface="+mj-ea"/>
                <a:ea typeface="+mj-ea"/>
                <a:cs typeface="+mn-cs"/>
              </a:defRPr>
            </a:lvl2pPr>
            <a:lvl3pPr marL="1144588" indent="-342900">
              <a:defRPr lang="zh-TW" altLang="en-US" sz="2000" kern="1200" dirty="0" smtClean="0">
                <a:solidFill>
                  <a:srgbClr val="00B0F0"/>
                </a:solidFill>
                <a:latin typeface="+mj-ea"/>
                <a:ea typeface="+mj-ea"/>
                <a:cs typeface="+mn-cs"/>
              </a:defRPr>
            </a:lvl3pPr>
            <a:lvl4pPr>
              <a:defRPr lang="zh-TW" altLang="en-US" sz="1800" kern="1200" dirty="0" smtClean="0">
                <a:solidFill>
                  <a:srgbClr val="00B050"/>
                </a:solidFill>
                <a:latin typeface="+mj-ea"/>
                <a:ea typeface="+mj-ea"/>
                <a:cs typeface="+mn-cs"/>
              </a:defRPr>
            </a:lvl4pPr>
            <a:lvl5pPr>
              <a:defRPr lang="en-US" altLang="zh-TW" sz="1800" kern="1200" dirty="0" smtClean="0">
                <a:solidFill>
                  <a:schemeClr val="tx2">
                    <a:lumMod val="50000"/>
                    <a:lumOff val="50000"/>
                  </a:schemeClr>
                </a:solidFill>
                <a:latin typeface="+mj-ea"/>
                <a:ea typeface="+mj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marL="1030288" lvl="2" indent="-228600" algn="l" defTabSz="914400" rtl="0" eaLnBrk="1" latinLnBrk="0" hangingPunct="1">
              <a:lnSpc>
                <a:spcPct val="100000"/>
              </a:lnSpc>
              <a:spcBef>
                <a:spcPct val="25000"/>
              </a:spcBef>
              <a:buFont typeface="Arial" pitchFamily="34" charset="0"/>
              <a:buChar char="•"/>
            </a:pPr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en-US" altLang="zh-TW" dirty="0" smtClean="0"/>
          </a:p>
          <a:p>
            <a:pPr lvl="0"/>
            <a:endParaRPr lang="zh-TW" altLang="en-US" dirty="0"/>
          </a:p>
        </p:txBody>
      </p:sp>
      <p:sp>
        <p:nvSpPr>
          <p:cNvPr id="5" name="標題 1"/>
          <p:cNvSpPr>
            <a:spLocks noGrp="1"/>
          </p:cNvSpPr>
          <p:nvPr>
            <p:ph type="title" hasCustomPrompt="1"/>
          </p:nvPr>
        </p:nvSpPr>
        <p:spPr>
          <a:xfrm>
            <a:off x="395536" y="116632"/>
            <a:ext cx="7416824" cy="648072"/>
          </a:xfrm>
        </p:spPr>
        <p:txBody>
          <a:bodyPr>
            <a:normAutofit/>
          </a:bodyPr>
          <a:lstStyle>
            <a:lvl1pPr algn="l">
              <a:defRPr sz="3200" b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TW" altLang="en-US" dirty="0" smtClean="0"/>
              <a:t>一、標題</a:t>
            </a:r>
            <a:endParaRPr lang="zh-TW" altLang="en-US" dirty="0"/>
          </a:p>
        </p:txBody>
      </p:sp>
      <p:sp>
        <p:nvSpPr>
          <p:cNvPr id="6" name="內容版面配置區 2"/>
          <p:cNvSpPr>
            <a:spLocks noGrp="1"/>
          </p:cNvSpPr>
          <p:nvPr>
            <p:ph sz="half" idx="11"/>
          </p:nvPr>
        </p:nvSpPr>
        <p:spPr>
          <a:xfrm>
            <a:off x="4644008" y="908720"/>
            <a:ext cx="4104456" cy="5256584"/>
          </a:xfrm>
        </p:spPr>
        <p:txBody>
          <a:bodyPr/>
          <a:lstStyle>
            <a:lvl1pPr marL="342900" indent="-342900">
              <a:buFontTx/>
              <a:buBlip>
                <a:blip r:embed="rId2"/>
              </a:buBlip>
              <a:defRPr lang="zh-TW" altLang="en-US" sz="2800" kern="1200" dirty="0" smtClean="0">
                <a:solidFill>
                  <a:srgbClr val="0099CC"/>
                </a:solidFill>
                <a:latin typeface="+mj-ea"/>
                <a:ea typeface="+mj-ea"/>
                <a:cs typeface="+mn-cs"/>
              </a:defRPr>
            </a:lvl1pPr>
            <a:lvl2pPr>
              <a:defRPr lang="zh-TW" altLang="en-US" sz="2400" kern="1200" dirty="0" smtClean="0">
                <a:solidFill>
                  <a:srgbClr val="0070C0"/>
                </a:solidFill>
                <a:latin typeface="+mj-ea"/>
                <a:ea typeface="+mj-ea"/>
                <a:cs typeface="+mn-cs"/>
              </a:defRPr>
            </a:lvl2pPr>
            <a:lvl3pPr marL="1144588" indent="-342900">
              <a:defRPr lang="zh-TW" altLang="en-US" sz="2000" kern="1200" dirty="0" smtClean="0">
                <a:solidFill>
                  <a:srgbClr val="00B0F0"/>
                </a:solidFill>
                <a:latin typeface="+mj-ea"/>
                <a:ea typeface="+mj-ea"/>
                <a:cs typeface="+mn-cs"/>
              </a:defRPr>
            </a:lvl3pPr>
            <a:lvl4pPr>
              <a:defRPr lang="zh-TW" altLang="en-US" sz="1800" kern="1200" dirty="0" smtClean="0">
                <a:solidFill>
                  <a:srgbClr val="00B050"/>
                </a:solidFill>
                <a:latin typeface="+mj-ea"/>
                <a:ea typeface="+mj-ea"/>
                <a:cs typeface="+mn-cs"/>
              </a:defRPr>
            </a:lvl4pPr>
            <a:lvl5pPr>
              <a:defRPr lang="en-US" altLang="zh-TW" sz="1800" kern="1200" dirty="0" smtClean="0">
                <a:solidFill>
                  <a:schemeClr val="tx2">
                    <a:lumMod val="50000"/>
                    <a:lumOff val="50000"/>
                  </a:schemeClr>
                </a:solidFill>
                <a:latin typeface="+mj-ea"/>
                <a:ea typeface="+mj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marL="1030288" lvl="2" indent="-228600" algn="l" defTabSz="914400" rtl="0" eaLnBrk="1" latinLnBrk="0" hangingPunct="1">
              <a:lnSpc>
                <a:spcPct val="100000"/>
              </a:lnSpc>
              <a:spcBef>
                <a:spcPct val="25000"/>
              </a:spcBef>
              <a:buFont typeface="Arial" pitchFamily="34" charset="0"/>
              <a:buChar char="•"/>
            </a:pPr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en-US" altLang="zh-TW" dirty="0" smtClean="0"/>
          </a:p>
          <a:p>
            <a:pPr lvl="0"/>
            <a:endParaRPr lang="zh-TW" altLang="en-US" dirty="0"/>
          </a:p>
        </p:txBody>
      </p:sp>
      <p:sp>
        <p:nvSpPr>
          <p:cNvPr id="7" name="矩形 6"/>
          <p:cNvSpPr/>
          <p:nvPr userDrawn="1"/>
        </p:nvSpPr>
        <p:spPr>
          <a:xfrm>
            <a:off x="1925960" y="6608385"/>
            <a:ext cx="552636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1200" b="0" dirty="0" smtClean="0">
                <a:latin typeface="Times New Roman" pitchFamily="18" charset="0"/>
                <a:cs typeface="Times New Roman" pitchFamily="18" charset="0"/>
              </a:rPr>
              <a:t>Copyright © 2014 NCHU</a:t>
            </a:r>
            <a:r>
              <a:rPr lang="zh-TW" altLang="en-US" sz="1200" b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1200" b="0" dirty="0" smtClean="0">
                <a:latin typeface="Times New Roman" pitchFamily="18" charset="0"/>
                <a:cs typeface="Times New Roman" pitchFamily="18" charset="0"/>
              </a:rPr>
              <a:t>EE</a:t>
            </a:r>
            <a:r>
              <a:rPr lang="zh-TW" altLang="en-US" sz="1200" b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1200" b="0" dirty="0" smtClean="0">
                <a:latin typeface="Times New Roman" pitchFamily="18" charset="0"/>
                <a:cs typeface="Times New Roman" pitchFamily="18" charset="0"/>
              </a:rPr>
              <a:t>LAB716. All rights reserved</a:t>
            </a:r>
            <a:endParaRPr lang="zh-TW" altLang="en-US" sz="1200" b="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433416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980728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72FA1"/>
                </a:solidFill>
                <a:latin typeface="+mj-ea"/>
                <a:ea typeface="+mj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  <p:sp>
        <p:nvSpPr>
          <p:cNvPr id="12" name="內容版面配置區 2"/>
          <p:cNvSpPr>
            <a:spLocks noGrp="1"/>
          </p:cNvSpPr>
          <p:nvPr>
            <p:ph sz="half" idx="10"/>
          </p:nvPr>
        </p:nvSpPr>
        <p:spPr>
          <a:xfrm>
            <a:off x="467544" y="1772816"/>
            <a:ext cx="4032448" cy="4392487"/>
          </a:xfrm>
        </p:spPr>
        <p:txBody>
          <a:bodyPr/>
          <a:lstStyle>
            <a:lvl1pPr marL="342900" indent="-342900">
              <a:buFontTx/>
              <a:buBlip>
                <a:blip r:embed="rId2"/>
              </a:buBlip>
              <a:defRPr lang="zh-TW" altLang="en-US" sz="2800" kern="1200" dirty="0" smtClean="0">
                <a:solidFill>
                  <a:srgbClr val="0099CC"/>
                </a:solidFill>
                <a:latin typeface="+mj-ea"/>
                <a:ea typeface="+mj-ea"/>
                <a:cs typeface="+mn-cs"/>
              </a:defRPr>
            </a:lvl1pPr>
            <a:lvl2pPr>
              <a:defRPr lang="zh-TW" altLang="en-US" sz="2400" kern="1200" dirty="0" smtClean="0">
                <a:solidFill>
                  <a:srgbClr val="0070C0"/>
                </a:solidFill>
                <a:latin typeface="+mj-ea"/>
                <a:ea typeface="+mj-ea"/>
                <a:cs typeface="+mn-cs"/>
              </a:defRPr>
            </a:lvl2pPr>
            <a:lvl3pPr marL="1144588" indent="-342900">
              <a:defRPr lang="zh-TW" altLang="en-US" sz="2000" kern="1200" dirty="0" smtClean="0">
                <a:solidFill>
                  <a:srgbClr val="00B0F0"/>
                </a:solidFill>
                <a:latin typeface="+mj-ea"/>
                <a:ea typeface="+mj-ea"/>
                <a:cs typeface="+mn-cs"/>
              </a:defRPr>
            </a:lvl3pPr>
            <a:lvl4pPr>
              <a:defRPr lang="zh-TW" altLang="en-US" sz="1800" kern="1200" dirty="0" smtClean="0">
                <a:solidFill>
                  <a:srgbClr val="00B050"/>
                </a:solidFill>
                <a:latin typeface="+mj-ea"/>
                <a:ea typeface="+mj-ea"/>
                <a:cs typeface="+mn-cs"/>
              </a:defRPr>
            </a:lvl4pPr>
            <a:lvl5pPr>
              <a:defRPr lang="en-US" altLang="zh-TW" sz="1800" kern="1200" dirty="0" smtClean="0">
                <a:solidFill>
                  <a:schemeClr val="tx2">
                    <a:lumMod val="50000"/>
                    <a:lumOff val="50000"/>
                  </a:schemeClr>
                </a:solidFill>
                <a:latin typeface="+mj-ea"/>
                <a:ea typeface="+mj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marL="1030288" lvl="2" indent="-228600" algn="l" defTabSz="914400" rtl="0" eaLnBrk="1" latinLnBrk="0" hangingPunct="1">
              <a:lnSpc>
                <a:spcPct val="100000"/>
              </a:lnSpc>
              <a:spcBef>
                <a:spcPct val="25000"/>
              </a:spcBef>
              <a:buFont typeface="Arial" pitchFamily="34" charset="0"/>
              <a:buChar char="•"/>
            </a:pPr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en-US" altLang="zh-TW" dirty="0" smtClean="0"/>
          </a:p>
          <a:p>
            <a:pPr lvl="0"/>
            <a:endParaRPr lang="zh-TW" altLang="en-US" dirty="0"/>
          </a:p>
        </p:txBody>
      </p:sp>
      <p:sp>
        <p:nvSpPr>
          <p:cNvPr id="13" name="內容版面配置區 2"/>
          <p:cNvSpPr>
            <a:spLocks noGrp="1"/>
          </p:cNvSpPr>
          <p:nvPr>
            <p:ph sz="half" idx="11"/>
          </p:nvPr>
        </p:nvSpPr>
        <p:spPr>
          <a:xfrm>
            <a:off x="4644008" y="1772816"/>
            <a:ext cx="4032448" cy="4392487"/>
          </a:xfrm>
        </p:spPr>
        <p:txBody>
          <a:bodyPr/>
          <a:lstStyle>
            <a:lvl1pPr marL="342900" indent="-342900">
              <a:buFontTx/>
              <a:buBlip>
                <a:blip r:embed="rId2"/>
              </a:buBlip>
              <a:defRPr lang="zh-TW" altLang="en-US" sz="2800" kern="1200" dirty="0" smtClean="0">
                <a:solidFill>
                  <a:srgbClr val="0099CC"/>
                </a:solidFill>
                <a:latin typeface="+mj-ea"/>
                <a:ea typeface="+mj-ea"/>
                <a:cs typeface="+mn-cs"/>
              </a:defRPr>
            </a:lvl1pPr>
            <a:lvl2pPr>
              <a:defRPr lang="zh-TW" altLang="en-US" sz="2400" kern="1200" dirty="0" smtClean="0">
                <a:solidFill>
                  <a:srgbClr val="0070C0"/>
                </a:solidFill>
                <a:latin typeface="+mj-ea"/>
                <a:ea typeface="+mj-ea"/>
                <a:cs typeface="+mn-cs"/>
              </a:defRPr>
            </a:lvl2pPr>
            <a:lvl3pPr marL="1144588" indent="-342900">
              <a:defRPr lang="zh-TW" altLang="en-US" sz="2000" kern="1200" dirty="0" smtClean="0">
                <a:solidFill>
                  <a:srgbClr val="00B0F0"/>
                </a:solidFill>
                <a:latin typeface="+mj-ea"/>
                <a:ea typeface="+mj-ea"/>
                <a:cs typeface="+mn-cs"/>
              </a:defRPr>
            </a:lvl3pPr>
            <a:lvl4pPr>
              <a:defRPr lang="zh-TW" altLang="en-US" sz="1800" kern="1200" dirty="0" smtClean="0">
                <a:solidFill>
                  <a:srgbClr val="00B050"/>
                </a:solidFill>
                <a:latin typeface="+mj-ea"/>
                <a:ea typeface="+mj-ea"/>
                <a:cs typeface="+mn-cs"/>
              </a:defRPr>
            </a:lvl4pPr>
            <a:lvl5pPr>
              <a:defRPr lang="en-US" altLang="zh-TW" sz="1800" kern="1200" dirty="0" smtClean="0">
                <a:solidFill>
                  <a:schemeClr val="tx2">
                    <a:lumMod val="50000"/>
                    <a:lumOff val="50000"/>
                  </a:schemeClr>
                </a:solidFill>
                <a:latin typeface="+mj-ea"/>
                <a:ea typeface="+mj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marL="1030288" lvl="2" indent="-228600" algn="l" defTabSz="914400" rtl="0" eaLnBrk="1" latinLnBrk="0" hangingPunct="1">
              <a:lnSpc>
                <a:spcPct val="100000"/>
              </a:lnSpc>
              <a:spcBef>
                <a:spcPct val="25000"/>
              </a:spcBef>
              <a:buFont typeface="Arial" pitchFamily="34" charset="0"/>
              <a:buChar char="•"/>
            </a:pPr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en-US" altLang="zh-TW" dirty="0" smtClean="0"/>
          </a:p>
          <a:p>
            <a:pPr lvl="0"/>
            <a:endParaRPr lang="zh-TW" altLang="en-US" dirty="0"/>
          </a:p>
        </p:txBody>
      </p:sp>
      <p:sp>
        <p:nvSpPr>
          <p:cNvPr id="14" name="文字版面配置區 2"/>
          <p:cNvSpPr>
            <a:spLocks noGrp="1"/>
          </p:cNvSpPr>
          <p:nvPr>
            <p:ph type="body" idx="12"/>
          </p:nvPr>
        </p:nvSpPr>
        <p:spPr>
          <a:xfrm>
            <a:off x="4644008" y="980728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72FA1"/>
                </a:solidFill>
                <a:latin typeface="+mj-ea"/>
                <a:ea typeface="+mj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  <p:sp>
        <p:nvSpPr>
          <p:cNvPr id="7" name="標題 1"/>
          <p:cNvSpPr>
            <a:spLocks noGrp="1"/>
          </p:cNvSpPr>
          <p:nvPr>
            <p:ph type="title" hasCustomPrompt="1"/>
          </p:nvPr>
        </p:nvSpPr>
        <p:spPr>
          <a:xfrm>
            <a:off x="395536" y="116632"/>
            <a:ext cx="7416824" cy="648072"/>
          </a:xfrm>
        </p:spPr>
        <p:txBody>
          <a:bodyPr>
            <a:normAutofit/>
          </a:bodyPr>
          <a:lstStyle>
            <a:lvl1pPr algn="l">
              <a:defRPr sz="3200" b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TW" altLang="en-US" dirty="0" smtClean="0"/>
              <a:t>一、標題</a:t>
            </a:r>
            <a:endParaRPr lang="zh-TW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1925960" y="6608385"/>
            <a:ext cx="552636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1200" b="0" dirty="0" smtClean="0">
                <a:latin typeface="Times New Roman" pitchFamily="18" charset="0"/>
                <a:cs typeface="Times New Roman" pitchFamily="18" charset="0"/>
              </a:rPr>
              <a:t>Copyright © 2014 NCHU</a:t>
            </a:r>
            <a:r>
              <a:rPr lang="zh-TW" altLang="en-US" sz="1200" b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1200" b="0" dirty="0" smtClean="0">
                <a:latin typeface="Times New Roman" pitchFamily="18" charset="0"/>
                <a:cs typeface="Times New Roman" pitchFamily="18" charset="0"/>
              </a:rPr>
              <a:t>EE</a:t>
            </a:r>
            <a:r>
              <a:rPr lang="zh-TW" altLang="en-US" sz="1200" b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1200" b="0" dirty="0" smtClean="0">
                <a:latin typeface="Times New Roman" pitchFamily="18" charset="0"/>
                <a:cs typeface="Times New Roman" pitchFamily="18" charset="0"/>
              </a:rPr>
              <a:t>LAB716. All rights reserved</a:t>
            </a:r>
            <a:endParaRPr lang="zh-TW" altLang="en-US" sz="1200" b="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46530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title" hasCustomPrompt="1"/>
          </p:nvPr>
        </p:nvSpPr>
        <p:spPr>
          <a:xfrm>
            <a:off x="395536" y="116632"/>
            <a:ext cx="7416824" cy="648072"/>
          </a:xfrm>
        </p:spPr>
        <p:txBody>
          <a:bodyPr>
            <a:normAutofit/>
          </a:bodyPr>
          <a:lstStyle>
            <a:lvl1pPr algn="l">
              <a:defRPr sz="3200" b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TW" altLang="en-US" dirty="0" smtClean="0"/>
              <a:t>一、標題</a:t>
            </a:r>
            <a:endParaRPr lang="zh-TW" altLang="en-US" dirty="0"/>
          </a:p>
        </p:txBody>
      </p:sp>
      <p:sp>
        <p:nvSpPr>
          <p:cNvPr id="3" name="矩形 2"/>
          <p:cNvSpPr/>
          <p:nvPr userDrawn="1"/>
        </p:nvSpPr>
        <p:spPr>
          <a:xfrm>
            <a:off x="1925960" y="6608385"/>
            <a:ext cx="552636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1200" b="0" dirty="0" smtClean="0">
                <a:latin typeface="Times New Roman" pitchFamily="18" charset="0"/>
                <a:cs typeface="Times New Roman" pitchFamily="18" charset="0"/>
              </a:rPr>
              <a:t>Copyright © 2014 NCHU</a:t>
            </a:r>
            <a:r>
              <a:rPr lang="zh-TW" altLang="en-US" sz="1200" b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1200" b="0" dirty="0" smtClean="0">
                <a:latin typeface="Times New Roman" pitchFamily="18" charset="0"/>
                <a:cs typeface="Times New Roman" pitchFamily="18" charset="0"/>
              </a:rPr>
              <a:t>EE</a:t>
            </a:r>
            <a:r>
              <a:rPr lang="zh-TW" altLang="en-US" sz="1200" b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1200" b="0" dirty="0" smtClean="0">
                <a:latin typeface="Times New Roman" pitchFamily="18" charset="0"/>
                <a:cs typeface="Times New Roman" pitchFamily="18" charset="0"/>
              </a:rPr>
              <a:t>LAB716. All rights reserved</a:t>
            </a:r>
            <a:endParaRPr lang="zh-TW" altLang="en-US" sz="1200" b="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13629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1925960" y="6608385"/>
            <a:ext cx="552636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1200" b="0" dirty="0" smtClean="0">
                <a:latin typeface="Times New Roman" pitchFamily="18" charset="0"/>
                <a:cs typeface="Times New Roman" pitchFamily="18" charset="0"/>
              </a:rPr>
              <a:t>Copyright © 2014 NCHU</a:t>
            </a:r>
            <a:r>
              <a:rPr lang="zh-TW" altLang="en-US" sz="1200" b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1200" b="0" dirty="0" smtClean="0">
                <a:latin typeface="Times New Roman" pitchFamily="18" charset="0"/>
                <a:cs typeface="Times New Roman" pitchFamily="18" charset="0"/>
              </a:rPr>
              <a:t>EE</a:t>
            </a:r>
            <a:r>
              <a:rPr lang="zh-TW" altLang="en-US" sz="1200" b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1200" b="0" dirty="0" smtClean="0">
                <a:latin typeface="Times New Roman" pitchFamily="18" charset="0"/>
                <a:cs typeface="Times New Roman" pitchFamily="18" charset="0"/>
              </a:rPr>
              <a:t>LAB716. All rights reserved</a:t>
            </a:r>
            <a:endParaRPr lang="zh-TW" altLang="en-US" sz="1200" b="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0849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980728"/>
            <a:ext cx="2746648" cy="5145435"/>
          </a:xfrm>
        </p:spPr>
        <p:txBody>
          <a:bodyPr/>
          <a:lstStyle>
            <a:lvl1pPr marL="0" indent="0">
              <a:buNone/>
              <a:defRPr sz="1400">
                <a:solidFill>
                  <a:srgbClr val="072FA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  <p:sp>
        <p:nvSpPr>
          <p:cNvPr id="10" name="內容版面配置區 2"/>
          <p:cNvSpPr>
            <a:spLocks noGrp="1"/>
          </p:cNvSpPr>
          <p:nvPr>
            <p:ph sz="half" idx="10"/>
          </p:nvPr>
        </p:nvSpPr>
        <p:spPr>
          <a:xfrm>
            <a:off x="3491880" y="980728"/>
            <a:ext cx="5184576" cy="5184576"/>
          </a:xfrm>
        </p:spPr>
        <p:txBody>
          <a:bodyPr/>
          <a:lstStyle>
            <a:lvl1pPr marL="342900" indent="-342900">
              <a:buFontTx/>
              <a:buBlip>
                <a:blip r:embed="rId2"/>
              </a:buBlip>
              <a:defRPr lang="zh-TW" altLang="en-US" sz="2800" kern="1200" dirty="0" smtClean="0">
                <a:solidFill>
                  <a:srgbClr val="0099CC"/>
                </a:solidFill>
                <a:latin typeface="+mj-ea"/>
                <a:ea typeface="+mj-ea"/>
                <a:cs typeface="+mn-cs"/>
              </a:defRPr>
            </a:lvl1pPr>
            <a:lvl2pPr>
              <a:defRPr lang="zh-TW" altLang="en-US" sz="2400" kern="1200" dirty="0" smtClean="0">
                <a:solidFill>
                  <a:srgbClr val="0070C0"/>
                </a:solidFill>
                <a:latin typeface="+mj-ea"/>
                <a:ea typeface="+mj-ea"/>
                <a:cs typeface="+mn-cs"/>
              </a:defRPr>
            </a:lvl2pPr>
            <a:lvl3pPr marL="1144588" indent="-342900">
              <a:defRPr lang="zh-TW" altLang="en-US" sz="2000" kern="1200" dirty="0" smtClean="0">
                <a:solidFill>
                  <a:srgbClr val="00B0F0"/>
                </a:solidFill>
                <a:latin typeface="+mj-ea"/>
                <a:ea typeface="+mj-ea"/>
                <a:cs typeface="+mn-cs"/>
              </a:defRPr>
            </a:lvl3pPr>
            <a:lvl4pPr>
              <a:defRPr lang="zh-TW" altLang="en-US" sz="1800" kern="1200" dirty="0" smtClean="0">
                <a:solidFill>
                  <a:srgbClr val="00B050"/>
                </a:solidFill>
                <a:latin typeface="+mj-ea"/>
                <a:ea typeface="+mj-ea"/>
                <a:cs typeface="+mn-cs"/>
              </a:defRPr>
            </a:lvl4pPr>
            <a:lvl5pPr>
              <a:defRPr lang="en-US" altLang="zh-TW" sz="1800" kern="1200" dirty="0" smtClean="0">
                <a:solidFill>
                  <a:schemeClr val="tx2">
                    <a:lumMod val="50000"/>
                    <a:lumOff val="50000"/>
                  </a:schemeClr>
                </a:solidFill>
                <a:latin typeface="+mj-ea"/>
                <a:ea typeface="+mj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marL="1030288" lvl="2" indent="-228600" algn="l" defTabSz="914400" rtl="0" eaLnBrk="1" latinLnBrk="0" hangingPunct="1">
              <a:lnSpc>
                <a:spcPct val="100000"/>
              </a:lnSpc>
              <a:spcBef>
                <a:spcPct val="25000"/>
              </a:spcBef>
              <a:buFont typeface="Arial" pitchFamily="34" charset="0"/>
              <a:buChar char="•"/>
            </a:pPr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en-US" altLang="zh-TW" dirty="0" smtClean="0"/>
          </a:p>
          <a:p>
            <a:pPr lvl="0"/>
            <a:endParaRPr lang="zh-TW" altLang="en-US" dirty="0"/>
          </a:p>
        </p:txBody>
      </p:sp>
      <p:sp>
        <p:nvSpPr>
          <p:cNvPr id="5" name="標題 1"/>
          <p:cNvSpPr>
            <a:spLocks noGrp="1"/>
          </p:cNvSpPr>
          <p:nvPr>
            <p:ph type="title" hasCustomPrompt="1"/>
          </p:nvPr>
        </p:nvSpPr>
        <p:spPr>
          <a:xfrm>
            <a:off x="395536" y="116632"/>
            <a:ext cx="7416824" cy="648072"/>
          </a:xfrm>
        </p:spPr>
        <p:txBody>
          <a:bodyPr>
            <a:normAutofit/>
          </a:bodyPr>
          <a:lstStyle>
            <a:lvl1pPr algn="l">
              <a:defRPr sz="3200" b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TW" altLang="en-US" dirty="0" smtClean="0"/>
              <a:t>一、標題</a:t>
            </a:r>
            <a:endParaRPr lang="zh-TW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1925960" y="6608385"/>
            <a:ext cx="552636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1200" b="0" dirty="0" smtClean="0">
                <a:latin typeface="Times New Roman" pitchFamily="18" charset="0"/>
                <a:cs typeface="Times New Roman" pitchFamily="18" charset="0"/>
              </a:rPr>
              <a:t>Copyright © 2014 NCHU</a:t>
            </a:r>
            <a:r>
              <a:rPr lang="zh-TW" altLang="en-US" sz="1200" b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1200" b="0" dirty="0" smtClean="0">
                <a:latin typeface="Times New Roman" pitchFamily="18" charset="0"/>
                <a:cs typeface="Times New Roman" pitchFamily="18" charset="0"/>
              </a:rPr>
              <a:t>EE</a:t>
            </a:r>
            <a:r>
              <a:rPr lang="zh-TW" altLang="en-US" sz="1200" b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1200" b="0" dirty="0" smtClean="0">
                <a:latin typeface="Times New Roman" pitchFamily="18" charset="0"/>
                <a:cs typeface="Times New Roman" pitchFamily="18" charset="0"/>
              </a:rPr>
              <a:t>LAB716. All rights reserved</a:t>
            </a:r>
            <a:endParaRPr lang="zh-TW" altLang="en-US" sz="1200" b="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17957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39552" y="908720"/>
            <a:ext cx="8208912" cy="396044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 hasCustomPrompt="1"/>
          </p:nvPr>
        </p:nvSpPr>
        <p:spPr>
          <a:xfrm>
            <a:off x="539552" y="5433310"/>
            <a:ext cx="8208912" cy="73889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dirty="0" smtClean="0"/>
              <a:t>圖片說明</a:t>
            </a:r>
          </a:p>
        </p:txBody>
      </p:sp>
      <p:sp>
        <p:nvSpPr>
          <p:cNvPr id="9" name="標題 1"/>
          <p:cNvSpPr>
            <a:spLocks noGrp="1"/>
          </p:cNvSpPr>
          <p:nvPr>
            <p:ph type="title" hasCustomPrompt="1"/>
          </p:nvPr>
        </p:nvSpPr>
        <p:spPr>
          <a:xfrm>
            <a:off x="539552" y="4910476"/>
            <a:ext cx="8244988" cy="462740"/>
          </a:xfrm>
        </p:spPr>
        <p:txBody>
          <a:bodyPr>
            <a:normAutofit/>
          </a:bodyPr>
          <a:lstStyle>
            <a:lvl1pPr algn="l">
              <a:defRPr sz="2400" b="1">
                <a:solidFill>
                  <a:srgbClr val="002060"/>
                </a:solidFill>
                <a:latin typeface="+mj-ea"/>
                <a:ea typeface="+mj-ea"/>
              </a:defRPr>
            </a:lvl1pPr>
          </a:lstStyle>
          <a:p>
            <a:r>
              <a:rPr lang="zh-TW" altLang="en-US" dirty="0" smtClean="0"/>
              <a:t>圖片標題</a:t>
            </a:r>
            <a:endParaRPr lang="zh-TW" altLang="en-US" dirty="0"/>
          </a:p>
        </p:txBody>
      </p:sp>
      <p:sp>
        <p:nvSpPr>
          <p:cNvPr id="5" name="矩形 4"/>
          <p:cNvSpPr/>
          <p:nvPr userDrawn="1"/>
        </p:nvSpPr>
        <p:spPr>
          <a:xfrm>
            <a:off x="1925960" y="6608385"/>
            <a:ext cx="552636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1200" b="0" dirty="0" smtClean="0">
                <a:latin typeface="Times New Roman" pitchFamily="18" charset="0"/>
                <a:cs typeface="Times New Roman" pitchFamily="18" charset="0"/>
              </a:rPr>
              <a:t>Copyright © 2014 NCHU</a:t>
            </a:r>
            <a:r>
              <a:rPr lang="zh-TW" altLang="en-US" sz="1200" b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1200" b="0" dirty="0" smtClean="0">
                <a:latin typeface="Times New Roman" pitchFamily="18" charset="0"/>
                <a:cs typeface="Times New Roman" pitchFamily="18" charset="0"/>
              </a:rPr>
              <a:t>EE</a:t>
            </a:r>
            <a:r>
              <a:rPr lang="zh-TW" altLang="en-US" sz="1200" b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1200" b="0" dirty="0" smtClean="0">
                <a:latin typeface="Times New Roman" pitchFamily="18" charset="0"/>
                <a:cs typeface="Times New Roman" pitchFamily="18" charset="0"/>
              </a:rPr>
              <a:t>LAB716. All rights reserved</a:t>
            </a:r>
            <a:endParaRPr lang="zh-TW" altLang="en-US" sz="1200" b="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71384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內容版面配置區 2"/>
          <p:cNvSpPr>
            <a:spLocks noGrp="1"/>
          </p:cNvSpPr>
          <p:nvPr>
            <p:ph sz="half" idx="10"/>
          </p:nvPr>
        </p:nvSpPr>
        <p:spPr>
          <a:xfrm>
            <a:off x="395536" y="908720"/>
            <a:ext cx="8352928" cy="5256584"/>
          </a:xfrm>
        </p:spPr>
        <p:txBody>
          <a:bodyPr vert="eaVert"/>
          <a:lstStyle>
            <a:lvl1pPr marL="342900" indent="-342900">
              <a:buFontTx/>
              <a:buBlip>
                <a:blip r:embed="rId2"/>
              </a:buBlip>
              <a:defRPr lang="zh-TW" altLang="en-US" sz="2800" kern="1200" dirty="0" smtClean="0">
                <a:solidFill>
                  <a:srgbClr val="0099CC"/>
                </a:solidFill>
                <a:latin typeface="+mj-ea"/>
                <a:ea typeface="+mj-ea"/>
                <a:cs typeface="+mn-cs"/>
              </a:defRPr>
            </a:lvl1pPr>
            <a:lvl2pPr>
              <a:defRPr lang="zh-TW" altLang="en-US" sz="2400" kern="1200" dirty="0" smtClean="0">
                <a:solidFill>
                  <a:srgbClr val="0070C0"/>
                </a:solidFill>
                <a:latin typeface="+mj-ea"/>
                <a:ea typeface="+mj-ea"/>
                <a:cs typeface="+mn-cs"/>
              </a:defRPr>
            </a:lvl2pPr>
            <a:lvl3pPr marL="1144588" indent="-342900">
              <a:defRPr lang="zh-TW" altLang="en-US" sz="2000" kern="1200" dirty="0" smtClean="0">
                <a:solidFill>
                  <a:srgbClr val="00B0F0"/>
                </a:solidFill>
                <a:latin typeface="+mj-ea"/>
                <a:ea typeface="+mj-ea"/>
                <a:cs typeface="+mn-cs"/>
              </a:defRPr>
            </a:lvl3pPr>
            <a:lvl4pPr>
              <a:defRPr lang="zh-TW" altLang="en-US" sz="1800" kern="1200" dirty="0" smtClean="0">
                <a:solidFill>
                  <a:srgbClr val="00B050"/>
                </a:solidFill>
                <a:latin typeface="+mj-ea"/>
                <a:ea typeface="+mj-ea"/>
                <a:cs typeface="+mn-cs"/>
              </a:defRPr>
            </a:lvl4pPr>
            <a:lvl5pPr>
              <a:defRPr lang="en-US" altLang="zh-TW" sz="1800" kern="1200" dirty="0" smtClean="0">
                <a:solidFill>
                  <a:schemeClr val="tx2">
                    <a:lumMod val="50000"/>
                    <a:lumOff val="50000"/>
                  </a:schemeClr>
                </a:solidFill>
                <a:latin typeface="+mj-ea"/>
                <a:ea typeface="+mj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marL="1030288" lvl="2" indent="-228600" algn="l" defTabSz="914400" rtl="0" eaLnBrk="1" latinLnBrk="0" hangingPunct="1">
              <a:lnSpc>
                <a:spcPct val="100000"/>
              </a:lnSpc>
              <a:spcBef>
                <a:spcPct val="25000"/>
              </a:spcBef>
              <a:buFont typeface="Arial" pitchFamily="34" charset="0"/>
              <a:buChar char="•"/>
            </a:pPr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en-US" altLang="zh-TW" dirty="0" smtClean="0"/>
          </a:p>
          <a:p>
            <a:pPr lvl="0"/>
            <a:endParaRPr lang="zh-TW" altLang="en-US" dirty="0"/>
          </a:p>
        </p:txBody>
      </p:sp>
      <p:sp>
        <p:nvSpPr>
          <p:cNvPr id="4" name="標題 1"/>
          <p:cNvSpPr>
            <a:spLocks noGrp="1"/>
          </p:cNvSpPr>
          <p:nvPr>
            <p:ph type="title" hasCustomPrompt="1"/>
          </p:nvPr>
        </p:nvSpPr>
        <p:spPr>
          <a:xfrm>
            <a:off x="395536" y="116632"/>
            <a:ext cx="7416824" cy="648072"/>
          </a:xfrm>
        </p:spPr>
        <p:txBody>
          <a:bodyPr>
            <a:normAutofit/>
          </a:bodyPr>
          <a:lstStyle>
            <a:lvl1pPr algn="l">
              <a:defRPr sz="3200" b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TW" altLang="en-US" dirty="0" smtClean="0"/>
              <a:t>一、標題</a:t>
            </a:r>
            <a:endParaRPr lang="zh-TW" altLang="en-US" dirty="0"/>
          </a:p>
        </p:txBody>
      </p:sp>
      <p:sp>
        <p:nvSpPr>
          <p:cNvPr id="5" name="矩形 4"/>
          <p:cNvSpPr/>
          <p:nvPr userDrawn="1"/>
        </p:nvSpPr>
        <p:spPr>
          <a:xfrm>
            <a:off x="1925960" y="6608385"/>
            <a:ext cx="552636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1200" b="0" dirty="0" smtClean="0">
                <a:latin typeface="Times New Roman" pitchFamily="18" charset="0"/>
                <a:cs typeface="Times New Roman" pitchFamily="18" charset="0"/>
              </a:rPr>
              <a:t>Copyright © 2014 NCHU</a:t>
            </a:r>
            <a:r>
              <a:rPr lang="zh-TW" altLang="en-US" sz="1200" b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1200" b="0" dirty="0" smtClean="0">
                <a:latin typeface="Times New Roman" pitchFamily="18" charset="0"/>
                <a:cs typeface="Times New Roman" pitchFamily="18" charset="0"/>
              </a:rPr>
              <a:t>EE</a:t>
            </a:r>
            <a:r>
              <a:rPr lang="zh-TW" altLang="en-US" sz="1200" b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1200" b="0" dirty="0" smtClean="0">
                <a:latin typeface="Times New Roman" pitchFamily="18" charset="0"/>
                <a:cs typeface="Times New Roman" pitchFamily="18" charset="0"/>
              </a:rPr>
              <a:t>LAB716. All rights reserved</a:t>
            </a:r>
            <a:endParaRPr lang="zh-TW" altLang="en-US" sz="1200" b="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1374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/>
          <p:cNvSpPr txBox="1">
            <a:spLocks/>
          </p:cNvSpPr>
          <p:nvPr userDrawn="1"/>
        </p:nvSpPr>
        <p:spPr>
          <a:xfrm>
            <a:off x="8100392" y="908720"/>
            <a:ext cx="720080" cy="5256584"/>
          </a:xfrm>
          <a:prstGeom prst="rect">
            <a:avLst/>
          </a:prstGeom>
        </p:spPr>
        <p:txBody>
          <a:bodyPr vert="eaVert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rgbClr val="002060"/>
                </a:solidFill>
                <a:latin typeface="+mj-ea"/>
                <a:ea typeface="+mj-ea"/>
                <a:cs typeface="+mj-cs"/>
              </a:defRPr>
            </a:lvl1pPr>
          </a:lstStyle>
          <a:p>
            <a:r>
              <a:rPr lang="zh-TW" altLang="en-US" sz="3200" b="1" kern="1200" dirty="0" smtClean="0">
                <a:solidFill>
                  <a:srgbClr val="008000"/>
                </a:solidFill>
                <a:latin typeface="+mj-ea"/>
                <a:ea typeface="+mj-ea"/>
                <a:cs typeface="+mj-cs"/>
              </a:rPr>
              <a:t>一、標題</a:t>
            </a:r>
            <a:endParaRPr lang="zh-TW" altLang="en-US" sz="3200" b="1" kern="1200" dirty="0">
              <a:solidFill>
                <a:srgbClr val="008000"/>
              </a:solidFill>
              <a:latin typeface="+mj-ea"/>
              <a:ea typeface="+mj-ea"/>
              <a:cs typeface="+mj-cs"/>
            </a:endParaRPr>
          </a:p>
        </p:txBody>
      </p:sp>
      <p:sp>
        <p:nvSpPr>
          <p:cNvPr id="9" name="內容版面配置區 2"/>
          <p:cNvSpPr>
            <a:spLocks noGrp="1"/>
          </p:cNvSpPr>
          <p:nvPr>
            <p:ph sz="half" idx="10"/>
          </p:nvPr>
        </p:nvSpPr>
        <p:spPr>
          <a:xfrm>
            <a:off x="395536" y="908720"/>
            <a:ext cx="7632848" cy="5256584"/>
          </a:xfrm>
        </p:spPr>
        <p:txBody>
          <a:bodyPr vert="eaVert"/>
          <a:lstStyle>
            <a:lvl1pPr marL="342900" indent="-342900">
              <a:buFontTx/>
              <a:buBlip>
                <a:blip r:embed="rId2"/>
              </a:buBlip>
              <a:defRPr lang="zh-TW" altLang="en-US" sz="2800" kern="1200" dirty="0" smtClean="0">
                <a:solidFill>
                  <a:srgbClr val="0099CC"/>
                </a:solidFill>
                <a:latin typeface="+mj-ea"/>
                <a:ea typeface="+mj-ea"/>
                <a:cs typeface="+mn-cs"/>
              </a:defRPr>
            </a:lvl1pPr>
            <a:lvl2pPr>
              <a:defRPr lang="zh-TW" altLang="en-US" sz="2400" kern="1200" dirty="0" smtClean="0">
                <a:solidFill>
                  <a:srgbClr val="0070C0"/>
                </a:solidFill>
                <a:latin typeface="+mj-ea"/>
                <a:ea typeface="+mj-ea"/>
                <a:cs typeface="+mn-cs"/>
              </a:defRPr>
            </a:lvl2pPr>
            <a:lvl3pPr marL="1144588" indent="-342900">
              <a:defRPr lang="zh-TW" altLang="en-US" sz="2000" kern="1200" dirty="0" smtClean="0">
                <a:solidFill>
                  <a:srgbClr val="00B0F0"/>
                </a:solidFill>
                <a:latin typeface="+mj-ea"/>
                <a:ea typeface="+mj-ea"/>
                <a:cs typeface="+mn-cs"/>
              </a:defRPr>
            </a:lvl3pPr>
            <a:lvl4pPr>
              <a:defRPr lang="zh-TW" altLang="en-US" sz="1800" kern="1200" dirty="0" smtClean="0">
                <a:solidFill>
                  <a:srgbClr val="00B050"/>
                </a:solidFill>
                <a:latin typeface="+mj-ea"/>
                <a:ea typeface="+mj-ea"/>
                <a:cs typeface="+mn-cs"/>
              </a:defRPr>
            </a:lvl4pPr>
            <a:lvl5pPr>
              <a:defRPr lang="en-US" altLang="zh-TW" sz="1800" kern="1200" dirty="0" smtClean="0">
                <a:solidFill>
                  <a:schemeClr val="tx2">
                    <a:lumMod val="50000"/>
                    <a:lumOff val="50000"/>
                  </a:schemeClr>
                </a:solidFill>
                <a:latin typeface="+mj-ea"/>
                <a:ea typeface="+mj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marL="1030288" lvl="2" indent="-228600" algn="l" defTabSz="914400" rtl="0" eaLnBrk="1" latinLnBrk="0" hangingPunct="1">
              <a:lnSpc>
                <a:spcPct val="100000"/>
              </a:lnSpc>
              <a:spcBef>
                <a:spcPct val="25000"/>
              </a:spcBef>
              <a:buFont typeface="Arial" pitchFamily="34" charset="0"/>
              <a:buChar char="•"/>
            </a:pPr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en-US" altLang="zh-TW" dirty="0" smtClean="0"/>
          </a:p>
          <a:p>
            <a:pPr lvl="0"/>
            <a:endParaRPr lang="zh-TW" altLang="en-US" dirty="0"/>
          </a:p>
        </p:txBody>
      </p:sp>
      <p:sp>
        <p:nvSpPr>
          <p:cNvPr id="4" name="矩形 3"/>
          <p:cNvSpPr/>
          <p:nvPr userDrawn="1"/>
        </p:nvSpPr>
        <p:spPr>
          <a:xfrm>
            <a:off x="1925960" y="6608385"/>
            <a:ext cx="552636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1200" b="0" dirty="0" smtClean="0">
                <a:latin typeface="Times New Roman" pitchFamily="18" charset="0"/>
                <a:cs typeface="Times New Roman" pitchFamily="18" charset="0"/>
              </a:rPr>
              <a:t>Copyright © 2014 NCHU</a:t>
            </a:r>
            <a:r>
              <a:rPr lang="zh-TW" altLang="en-US" sz="1200" b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1200" b="0" dirty="0" smtClean="0">
                <a:latin typeface="Times New Roman" pitchFamily="18" charset="0"/>
                <a:cs typeface="Times New Roman" pitchFamily="18" charset="0"/>
              </a:rPr>
              <a:t>EE</a:t>
            </a:r>
            <a:r>
              <a:rPr lang="zh-TW" altLang="en-US" sz="1200" b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1200" b="0" dirty="0" smtClean="0">
                <a:latin typeface="Times New Roman" pitchFamily="18" charset="0"/>
                <a:cs typeface="Times New Roman" pitchFamily="18" charset="0"/>
              </a:rPr>
              <a:t>LAB716. All rights reserved</a:t>
            </a:r>
            <a:endParaRPr lang="zh-TW" altLang="en-US" sz="1200" b="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932587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75"/>
            <a:ext cx="9182666" cy="6876000"/>
          </a:xfrm>
          <a:prstGeom prst="rect">
            <a:avLst/>
          </a:prstGeom>
        </p:spPr>
      </p:pic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sp>
        <p:nvSpPr>
          <p:cNvPr id="10" name="投影片編號版面配置區 5"/>
          <p:cNvSpPr txBox="1">
            <a:spLocks/>
          </p:cNvSpPr>
          <p:nvPr userDrawn="1"/>
        </p:nvSpPr>
        <p:spPr>
          <a:xfrm>
            <a:off x="7812360" y="6423252"/>
            <a:ext cx="1080120" cy="365125"/>
          </a:xfrm>
          <a:prstGeom prst="rect">
            <a:avLst/>
          </a:prstGeom>
          <a:noFill/>
        </p:spPr>
        <p:txBody>
          <a:bodyPr/>
          <a:lstStyle>
            <a:defPPr>
              <a:defRPr lang="zh-TW"/>
            </a:defPPr>
            <a:lvl1pPr marL="0" algn="ctr" defTabSz="914400" rtl="0" eaLnBrk="1" latinLnBrk="0" hangingPunct="1">
              <a:defRPr sz="1800" kern="1200">
                <a:solidFill>
                  <a:schemeClr val="bg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sz="16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P. </a:t>
            </a:r>
            <a:fld id="{8912F11A-B769-4885-B8B9-B7B961AE0E3D}" type="slidenum">
              <a:rPr lang="zh-TW" altLang="en-US" sz="16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algn="ctr"/>
              <a:t>‹#›</a:t>
            </a:fld>
            <a:r>
              <a:rPr lang="zh-TW" altLang="en-US" sz="16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zh-TW" sz="16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/4</a:t>
            </a:r>
            <a:endParaRPr lang="zh-TW" alt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4615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/>
          <p:cNvSpPr txBox="1"/>
          <p:nvPr/>
        </p:nvSpPr>
        <p:spPr>
          <a:xfrm>
            <a:off x="7956376" y="6597352"/>
            <a:ext cx="1296144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1400" b="1" smtClean="0">
                <a:solidFill>
                  <a:schemeClr val="accent2"/>
                </a:solidFill>
                <a:latin typeface="Arial Black" charset="0"/>
              </a:rPr>
              <a:t>2018.05.30</a:t>
            </a:r>
            <a:endParaRPr lang="zh-TW" altLang="en-US" sz="1400" b="1" dirty="0">
              <a:solidFill>
                <a:schemeClr val="accent2"/>
              </a:solidFill>
              <a:latin typeface="Arial Black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563888" y="3356992"/>
            <a:ext cx="4896544" cy="73866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2100" b="1" kern="1200" cap="none" spc="0" dirty="0" smtClean="0">
                <a:ln w="12700">
                  <a:noFill/>
                  <a:prstDash val="solid"/>
                </a:ln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>授課教師</a:t>
            </a:r>
            <a:r>
              <a:rPr lang="en-US" altLang="zh-TW" sz="2100" b="1" kern="1200" cap="none" spc="0" dirty="0" smtClean="0">
                <a:ln w="12700">
                  <a:noFill/>
                  <a:prstDash val="solid"/>
                </a:ln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>:</a:t>
            </a:r>
            <a:r>
              <a:rPr lang="zh-TW" altLang="en-US" sz="2100" b="1" dirty="0" smtClean="0">
                <a:ln w="12700">
                  <a:noFill/>
                  <a:prstDash val="solid"/>
                </a:ln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>范志鵬</a:t>
            </a:r>
            <a:r>
              <a:rPr lang="zh-TW" altLang="en-US" sz="2100" b="1" kern="1200" cap="none" spc="0" dirty="0" smtClean="0">
                <a:ln w="12700">
                  <a:noFill/>
                  <a:prstDash val="solid"/>
                </a:ln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>教授</a:t>
            </a:r>
            <a:endParaRPr lang="en-US" altLang="zh-TW" sz="2100" b="1" kern="1200" cap="none" spc="0" dirty="0" smtClean="0">
              <a:ln w="12700">
                <a:noFill/>
                <a:prstDash val="solid"/>
              </a:ln>
              <a:solidFill>
                <a:schemeClr val="bg1"/>
              </a:solidFill>
              <a:latin typeface="標楷體" pitchFamily="65" charset="-120"/>
              <a:ea typeface="標楷體" pitchFamily="65" charset="-120"/>
            </a:endParaRPr>
          </a:p>
          <a:p>
            <a:pPr>
              <a:defRPr/>
            </a:pPr>
            <a:r>
              <a:rPr lang="zh-TW" altLang="en-US" sz="2100" b="1" dirty="0" smtClean="0">
                <a:ln w="12700">
                  <a:noFill/>
                  <a:prstDash val="solid"/>
                </a:ln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>助教</a:t>
            </a:r>
            <a:r>
              <a:rPr lang="en-US" altLang="zh-TW" sz="2100" b="1" dirty="0" smtClean="0">
                <a:ln w="12700">
                  <a:noFill/>
                  <a:prstDash val="solid"/>
                </a:ln>
                <a:solidFill>
                  <a:schemeClr val="bg1"/>
                </a:solidFill>
                <a:latin typeface="標楷體" pitchFamily="65" charset="-120"/>
                <a:ea typeface="標楷體" pitchFamily="65" charset="-120"/>
              </a:rPr>
              <a:t>:</a:t>
            </a:r>
            <a:endParaRPr lang="zh-TW" altLang="en-US" sz="2100" b="1" kern="1200" cap="none" spc="0" dirty="0" smtClean="0">
              <a:ln w="12700">
                <a:noFill/>
                <a:prstDash val="solid"/>
              </a:ln>
              <a:solidFill>
                <a:schemeClr val="bg1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483768" y="476672"/>
            <a:ext cx="6192688" cy="523220"/>
          </a:xfrm>
          <a:prstGeom prst="rect">
            <a:avLst/>
          </a:prstGeom>
          <a:noFill/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  <p:txBody>
          <a:bodyPr wrap="squar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57150" h="38100" prst="artDeco"/>
            </a:sp3d>
          </a:bodyPr>
          <a:lstStyle/>
          <a:p>
            <a:r>
              <a:rPr lang="zh-TW" altLang="en-US" sz="2800" dirty="0" smtClean="0">
                <a:ln w="10541" cmpd="sng">
                  <a:solidFill>
                    <a:schemeClr val="tx2">
                      <a:lumMod val="50000"/>
                      <a:lumOff val="50000"/>
                    </a:schemeClr>
                  </a:solidFill>
                  <a:prstDash val="solid"/>
                </a:ln>
                <a:solidFill>
                  <a:schemeClr val="tx2">
                    <a:lumMod val="50000"/>
                    <a:lumOff val="50000"/>
                  </a:schemeClr>
                </a:solidFill>
                <a:effectLst>
                  <a:glow rad="101600">
                    <a:schemeClr val="bg1">
                      <a:alpha val="60000"/>
                    </a:schemeClr>
                  </a:glow>
                </a:effectLst>
                <a:latin typeface="標楷體" pitchFamily="65" charset="-120"/>
                <a:ea typeface="標楷體" pitchFamily="65" charset="-120"/>
              </a:rPr>
              <a:t>數位系統之快速雛型製作</a:t>
            </a:r>
            <a:endParaRPr lang="zh-TW" altLang="en-US" sz="2800" dirty="0">
              <a:ln w="10541" cmpd="sng">
                <a:solidFill>
                  <a:schemeClr val="tx2">
                    <a:lumMod val="50000"/>
                    <a:lumOff val="50000"/>
                  </a:schemeClr>
                </a:solidFill>
                <a:prstDash val="solid"/>
              </a:ln>
              <a:solidFill>
                <a:schemeClr val="tx2">
                  <a:lumMod val="50000"/>
                  <a:lumOff val="50000"/>
                </a:schemeClr>
              </a:solidFill>
              <a:effectLst>
                <a:glow rad="101600">
                  <a:schemeClr val="bg1">
                    <a:alpha val="60000"/>
                  </a:schemeClr>
                </a:glow>
              </a:effectLst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9" name="標題 1"/>
          <p:cNvSpPr txBox="1">
            <a:spLocks/>
          </p:cNvSpPr>
          <p:nvPr/>
        </p:nvSpPr>
        <p:spPr>
          <a:xfrm>
            <a:off x="1403648" y="1124744"/>
            <a:ext cx="8064896" cy="504056"/>
          </a:xfrm>
          <a:prstGeom prst="rect">
            <a:avLst/>
          </a:prstGeom>
        </p:spPr>
        <p:txBody>
          <a:bodyPr>
            <a:noAutofit/>
          </a:bodyPr>
          <a:lstStyle/>
          <a:p>
            <a:pPr lvl="0">
              <a:spcBef>
                <a:spcPct val="0"/>
              </a:spcBef>
            </a:pPr>
            <a:endParaRPr lang="zh-TW" altLang="en-US" sz="3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itchFamily="65" charset="-120"/>
              <a:ea typeface="標楷體" pitchFamily="65" charset="-120"/>
              <a:cs typeface="+mj-cs"/>
            </a:endParaRPr>
          </a:p>
        </p:txBody>
      </p:sp>
      <p:sp>
        <p:nvSpPr>
          <p:cNvPr id="2" name="文字方塊 1"/>
          <p:cNvSpPr txBox="1"/>
          <p:nvPr/>
        </p:nvSpPr>
        <p:spPr>
          <a:xfrm>
            <a:off x="2211300" y="2204864"/>
            <a:ext cx="57606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schemeClr val="bg1"/>
                </a:solidFill>
              </a:rPr>
              <a:t>VGA</a:t>
            </a:r>
            <a:r>
              <a:rPr lang="zh-TW" altLang="en-US" sz="4400" b="1" dirty="0" smtClean="0">
                <a:solidFill>
                  <a:schemeClr val="bg1"/>
                </a:solidFill>
              </a:rPr>
              <a:t> 原理</a:t>
            </a:r>
            <a:r>
              <a:rPr lang="en-US" altLang="zh-TW" sz="4400" b="1" dirty="0" smtClean="0">
                <a:solidFill>
                  <a:schemeClr val="bg1"/>
                </a:solidFill>
              </a:rPr>
              <a:t>/</a:t>
            </a:r>
            <a:r>
              <a:rPr lang="zh-TW" altLang="en-US" sz="4400" b="1" dirty="0" smtClean="0">
                <a:solidFill>
                  <a:schemeClr val="bg1"/>
                </a:solidFill>
              </a:rPr>
              <a:t>實習</a:t>
            </a:r>
            <a:r>
              <a:rPr lang="en-US" altLang="zh-TW" sz="4400" b="1" dirty="0" smtClean="0">
                <a:solidFill>
                  <a:schemeClr val="bg1"/>
                </a:solidFill>
              </a:rPr>
              <a:t>/</a:t>
            </a:r>
            <a:r>
              <a:rPr lang="zh-TW" altLang="en-US" sz="4400" b="1" dirty="0" smtClean="0">
                <a:solidFill>
                  <a:schemeClr val="bg1"/>
                </a:solidFill>
              </a:rPr>
              <a:t>範例</a:t>
            </a:r>
            <a:endParaRPr lang="zh-TW" altLang="en-US" sz="4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9970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VGA</a:t>
            </a:r>
            <a:r>
              <a:rPr lang="zh-TW" altLang="en-US" dirty="0" smtClean="0"/>
              <a:t>簡介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TW" dirty="0" smtClean="0"/>
              <a:t>VGA</a:t>
            </a:r>
            <a:r>
              <a:rPr lang="zh-TW" altLang="en-US" dirty="0" smtClean="0"/>
              <a:t>視頻圖形陣列</a:t>
            </a:r>
            <a:r>
              <a:rPr lang="en-US" altLang="zh-TW" dirty="0" smtClean="0"/>
              <a:t>(Video Graphics Array)</a:t>
            </a:r>
          </a:p>
          <a:p>
            <a:pPr lvl="1"/>
            <a:r>
              <a:rPr lang="zh-TW" altLang="en-US" dirty="0" smtClean="0"/>
              <a:t>是一種</a:t>
            </a:r>
            <a:r>
              <a:rPr lang="zh-TW" altLang="en-US" dirty="0"/>
              <a:t>視頻</a:t>
            </a:r>
            <a:r>
              <a:rPr lang="zh-TW" altLang="en-US" dirty="0" smtClean="0"/>
              <a:t>傳輸</a:t>
            </a:r>
            <a:r>
              <a:rPr lang="zh-TW" altLang="en-US" dirty="0"/>
              <a:t>標準</a:t>
            </a:r>
            <a:endParaRPr lang="en-US" altLang="zh-TW" dirty="0"/>
          </a:p>
          <a:p>
            <a:pPr lvl="1"/>
            <a:r>
              <a:rPr lang="zh-TW" altLang="en-US" dirty="0"/>
              <a:t>具有高解析度</a:t>
            </a:r>
            <a:r>
              <a:rPr lang="zh-TW" altLang="en-US" dirty="0">
                <a:latin typeface="新細明體"/>
                <a:ea typeface="新細明體"/>
              </a:rPr>
              <a:t>、</a:t>
            </a:r>
            <a:r>
              <a:rPr lang="zh-TW" altLang="en-US" dirty="0"/>
              <a:t>顯示</a:t>
            </a:r>
            <a:r>
              <a:rPr lang="zh-TW" altLang="en-US" dirty="0" smtClean="0"/>
              <a:t>速率快</a:t>
            </a:r>
            <a:r>
              <a:rPr lang="zh-TW" altLang="en-US" dirty="0">
                <a:latin typeface="新細明體"/>
                <a:ea typeface="新細明體"/>
              </a:rPr>
              <a:t>、</a:t>
            </a:r>
            <a:r>
              <a:rPr lang="zh-TW" altLang="en-US" dirty="0" smtClean="0"/>
              <a:t>顏色</a:t>
            </a:r>
            <a:r>
              <a:rPr lang="zh-TW" altLang="en-US" dirty="0"/>
              <a:t>豐富等</a:t>
            </a:r>
            <a:r>
              <a:rPr lang="zh-TW" altLang="en-US" dirty="0" smtClean="0"/>
              <a:t>優點</a:t>
            </a:r>
            <a:endParaRPr lang="en-US" altLang="zh-TW" dirty="0" smtClean="0"/>
          </a:p>
          <a:p>
            <a:r>
              <a:rPr lang="zh-TW" altLang="en-US" dirty="0" smtClean="0"/>
              <a:t>一般</a:t>
            </a:r>
            <a:r>
              <a:rPr lang="en-US" altLang="zh-TW" dirty="0" smtClean="0"/>
              <a:t>VGA</a:t>
            </a:r>
          </a:p>
          <a:p>
            <a:pPr lvl="1"/>
            <a:r>
              <a:rPr lang="zh-TW" altLang="en-US" dirty="0"/>
              <a:t>類比訊號 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RGB</a:t>
            </a:r>
          </a:p>
          <a:p>
            <a:pPr lvl="1"/>
            <a:r>
              <a:rPr lang="zh-TW" altLang="en-US" dirty="0"/>
              <a:t>經過</a:t>
            </a:r>
            <a:r>
              <a:rPr lang="en-US" altLang="zh-TW" dirty="0"/>
              <a:t>DAC(Digital to Analog Converter)</a:t>
            </a:r>
            <a:r>
              <a:rPr lang="zh-TW" altLang="en-US" dirty="0"/>
              <a:t>轉換</a:t>
            </a:r>
            <a:endParaRPr lang="en-US" altLang="zh-TW" dirty="0"/>
          </a:p>
          <a:p>
            <a:pPr lvl="1"/>
            <a:r>
              <a:rPr lang="zh-TW" altLang="en-US" dirty="0"/>
              <a:t>色彩電壓 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0~0.7</a:t>
            </a:r>
          </a:p>
          <a:p>
            <a:pPr lvl="1"/>
            <a:r>
              <a:rPr lang="en-US" altLang="zh-TW" dirty="0"/>
              <a:t>RGB</a:t>
            </a:r>
            <a:r>
              <a:rPr lang="zh-TW" altLang="en-US" dirty="0"/>
              <a:t>分別為</a:t>
            </a:r>
            <a:r>
              <a:rPr lang="en-US" altLang="zh-TW" dirty="0" smtClean="0"/>
              <a:t>8 bit</a:t>
            </a:r>
            <a:r>
              <a:rPr lang="zh-TW" altLang="en-US" dirty="0"/>
              <a:t>，共</a:t>
            </a:r>
            <a:r>
              <a:rPr lang="en-US" altLang="zh-TW" dirty="0"/>
              <a:t>(2^8)^3</a:t>
            </a:r>
            <a:r>
              <a:rPr lang="zh-TW" altLang="en-US" dirty="0"/>
              <a:t>種</a:t>
            </a:r>
            <a:r>
              <a:rPr lang="zh-TW" altLang="en-US" dirty="0" smtClean="0"/>
              <a:t>色彩</a:t>
            </a:r>
            <a:endParaRPr lang="en-US" altLang="zh-TW" dirty="0" smtClean="0"/>
          </a:p>
          <a:p>
            <a:r>
              <a:rPr lang="en-US" altLang="zh-TW" dirty="0" err="1" smtClean="0"/>
              <a:t>MorFPGA</a:t>
            </a:r>
            <a:endParaRPr lang="en-US" altLang="zh-TW" dirty="0" smtClean="0"/>
          </a:p>
          <a:p>
            <a:pPr lvl="1"/>
            <a:r>
              <a:rPr lang="zh-TW" altLang="en-US" dirty="0"/>
              <a:t>不經過</a:t>
            </a:r>
            <a:r>
              <a:rPr lang="en-US" altLang="zh-TW" dirty="0" smtClean="0"/>
              <a:t>DAC</a:t>
            </a:r>
            <a:r>
              <a:rPr lang="zh-TW" altLang="en-US" dirty="0" smtClean="0"/>
              <a:t>轉換，所以只有高低電位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RGB</a:t>
            </a:r>
            <a:r>
              <a:rPr lang="zh-TW" altLang="en-US" dirty="0" smtClean="0"/>
              <a:t>各為</a:t>
            </a:r>
            <a:r>
              <a:rPr lang="en-US" altLang="zh-TW" dirty="0" smtClean="0"/>
              <a:t>1 bit</a:t>
            </a:r>
            <a:r>
              <a:rPr lang="zh-TW" altLang="en-US" dirty="0" smtClean="0"/>
              <a:t>，共</a:t>
            </a:r>
            <a:r>
              <a:rPr lang="en-US" altLang="zh-TW" dirty="0" smtClean="0"/>
              <a:t>2^3=8</a:t>
            </a:r>
            <a:r>
              <a:rPr lang="zh-TW" altLang="en-US" dirty="0" smtClean="0"/>
              <a:t>種色彩</a:t>
            </a:r>
            <a:endParaRPr lang="en-US" altLang="zh-TW" dirty="0" smtClean="0"/>
          </a:p>
          <a:p>
            <a:pPr marL="457200" lvl="1" indent="0">
              <a:buNone/>
            </a:pPr>
            <a:endParaRPr lang="en-US" altLang="zh-TW" dirty="0" smtClean="0"/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endParaRPr lang="en-US" altLang="zh-TW" dirty="0" smtClean="0"/>
          </a:p>
          <a:p>
            <a:pPr lvl="1"/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388488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VGA</a:t>
            </a:r>
            <a:r>
              <a:rPr lang="zh-TW" altLang="en-US" dirty="0" smtClean="0"/>
              <a:t>掃描原理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TW" altLang="en-US" dirty="0" smtClean="0"/>
              <a:t>逐行掃描</a:t>
            </a:r>
            <a:r>
              <a:rPr lang="en-US" altLang="zh-TW" dirty="0" smtClean="0"/>
              <a:t>(</a:t>
            </a:r>
            <a:r>
              <a:rPr lang="en-US" altLang="zh-TW" dirty="0"/>
              <a:t>Progressive scan</a:t>
            </a:r>
            <a:r>
              <a:rPr lang="en-US" altLang="zh-TW" dirty="0" smtClean="0"/>
              <a:t>)</a:t>
            </a:r>
          </a:p>
          <a:p>
            <a:pPr lvl="1"/>
            <a:r>
              <a:rPr lang="zh-TW" altLang="en-US" dirty="0" smtClean="0"/>
              <a:t>從螢幕左上角開始，向右掃描</a:t>
            </a:r>
            <a:endParaRPr lang="en-US" altLang="zh-TW" dirty="0" smtClean="0"/>
          </a:p>
          <a:p>
            <a:pPr lvl="1"/>
            <a:r>
              <a:rPr lang="zh-TW" altLang="en-US" dirty="0"/>
              <a:t>一行掃描完</a:t>
            </a:r>
            <a:r>
              <a:rPr lang="zh-TW" altLang="en-US" dirty="0" smtClean="0"/>
              <a:t>後，跳到下一行的最左邊，開始新的行掃描</a:t>
            </a:r>
            <a:endParaRPr lang="en-US" altLang="zh-TW" dirty="0" smtClean="0"/>
          </a:p>
          <a:p>
            <a:pPr lvl="1"/>
            <a:r>
              <a:rPr lang="zh-TW" altLang="en-US" dirty="0"/>
              <a:t>行到行</a:t>
            </a:r>
            <a:r>
              <a:rPr lang="zh-TW" altLang="en-US" dirty="0" smtClean="0"/>
              <a:t>之間有一個移動時間，需有個消隱信號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ex.1080p</a:t>
            </a:r>
          </a:p>
          <a:p>
            <a:pPr lvl="1"/>
            <a:endParaRPr lang="en-US" altLang="zh-TW" dirty="0" smtClean="0"/>
          </a:p>
          <a:p>
            <a:r>
              <a:rPr lang="zh-TW" altLang="en-US" dirty="0"/>
              <a:t>隔行</a:t>
            </a:r>
            <a:r>
              <a:rPr lang="zh-TW" altLang="en-US" dirty="0" smtClean="0"/>
              <a:t>掃描</a:t>
            </a:r>
            <a:r>
              <a:rPr lang="en-US" altLang="zh-TW" dirty="0" smtClean="0"/>
              <a:t>(Interlaced </a:t>
            </a:r>
            <a:r>
              <a:rPr lang="en-US" altLang="zh-TW" dirty="0"/>
              <a:t>scan)</a:t>
            </a:r>
            <a:endParaRPr lang="en-US" altLang="zh-TW" dirty="0" smtClean="0"/>
          </a:p>
          <a:p>
            <a:pPr lvl="1"/>
            <a:r>
              <a:rPr lang="zh-TW" altLang="en-US" dirty="0"/>
              <a:t>原理</a:t>
            </a:r>
            <a:r>
              <a:rPr lang="zh-TW" altLang="en-US" dirty="0" smtClean="0"/>
              <a:t>與逐行相同</a:t>
            </a:r>
            <a:endParaRPr lang="en-US" altLang="zh-TW" dirty="0" smtClean="0"/>
          </a:p>
          <a:p>
            <a:pPr lvl="1"/>
            <a:r>
              <a:rPr lang="zh-TW" altLang="en-US" dirty="0"/>
              <a:t>相異之處</a:t>
            </a:r>
            <a:r>
              <a:rPr lang="zh-TW" altLang="en-US" dirty="0" smtClean="0"/>
              <a:t>為此方法會隔一行掃描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每一幀顯示的像素為逐行掃描的一半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ex.1080i</a:t>
            </a:r>
          </a:p>
          <a:p>
            <a:pPr marL="457200" lvl="1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2774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VGA</a:t>
            </a:r>
            <a:r>
              <a:rPr lang="zh-TW" altLang="en-US" dirty="0" smtClean="0"/>
              <a:t>時序 </a:t>
            </a:r>
            <a:r>
              <a:rPr lang="en-US" altLang="zh-TW" dirty="0" smtClean="0"/>
              <a:t>(640</a:t>
            </a:r>
            <a:r>
              <a:rPr lang="zh-TW" altLang="en-US" dirty="0" smtClean="0"/>
              <a:t>*</a:t>
            </a:r>
            <a:r>
              <a:rPr lang="en-US" altLang="zh-TW" dirty="0" smtClean="0"/>
              <a:t>480@60Hz)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水平時序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包含四個時序參數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包含</a:t>
            </a:r>
            <a:r>
              <a:rPr lang="zh-TW" altLang="en-US" dirty="0"/>
              <a:t>水平</a:t>
            </a:r>
            <a:r>
              <a:rPr lang="zh-TW" altLang="en-US" dirty="0" smtClean="0"/>
              <a:t>同步</a:t>
            </a:r>
            <a:r>
              <a:rPr lang="zh-TW" altLang="en-US" dirty="0"/>
              <a:t>時脈</a:t>
            </a:r>
            <a:r>
              <a:rPr lang="zh-TW" altLang="en-US" dirty="0">
                <a:latin typeface="新細明體"/>
                <a:ea typeface="新細明體"/>
              </a:rPr>
              <a:t>、</a:t>
            </a:r>
            <a:r>
              <a:rPr lang="zh-TW" altLang="en-US" dirty="0"/>
              <a:t>同步時脈後沿</a:t>
            </a:r>
            <a:r>
              <a:rPr lang="zh-TW" altLang="en-US" dirty="0">
                <a:latin typeface="新細明體"/>
                <a:ea typeface="新細明體"/>
              </a:rPr>
              <a:t>、</a:t>
            </a:r>
            <a:r>
              <a:rPr lang="zh-TW" altLang="en-US" dirty="0"/>
              <a:t>有效行顯示區域</a:t>
            </a:r>
            <a:r>
              <a:rPr lang="zh-TW" altLang="en-US" dirty="0">
                <a:latin typeface="新細明體"/>
                <a:ea typeface="新細明體"/>
              </a:rPr>
              <a:t>、</a:t>
            </a:r>
            <a:r>
              <a:rPr lang="zh-TW" altLang="en-US" dirty="0"/>
              <a:t>同步時脈前沿</a:t>
            </a:r>
            <a:r>
              <a:rPr lang="en-US" altLang="zh-TW" dirty="0"/>
              <a:t>(96+48+640+16=800</a:t>
            </a:r>
            <a:r>
              <a:rPr lang="en-US" altLang="zh-TW" dirty="0" smtClean="0"/>
              <a:t>)</a:t>
            </a:r>
          </a:p>
          <a:p>
            <a:pPr lvl="1"/>
            <a:r>
              <a:rPr lang="zh-TW" altLang="en-US" dirty="0" smtClean="0"/>
              <a:t>完成</a:t>
            </a:r>
            <a:r>
              <a:rPr lang="zh-TW" altLang="en-US" dirty="0"/>
              <a:t>一行掃描所需時間稱為水平掃描時間，其倒數稱為行</a:t>
            </a:r>
            <a:r>
              <a:rPr lang="zh-TW" altLang="en-US" dirty="0" smtClean="0"/>
              <a:t>頻率</a:t>
            </a:r>
            <a:r>
              <a:rPr lang="en-US" altLang="zh-TW" dirty="0" smtClean="0"/>
              <a:t>(525</a:t>
            </a:r>
            <a:r>
              <a:rPr lang="zh-TW" altLang="en-US" dirty="0" smtClean="0"/>
              <a:t>*</a:t>
            </a:r>
            <a:r>
              <a:rPr lang="en-US" altLang="zh-TW" dirty="0" smtClean="0"/>
              <a:t>59.94=31496Hz</a:t>
            </a:r>
            <a:r>
              <a:rPr lang="zh-TW" altLang="en-US" dirty="0" smtClean="0"/>
              <a:t>  </a:t>
            </a:r>
            <a:r>
              <a:rPr lang="en-US" altLang="zh-TW" dirty="0" smtClean="0"/>
              <a:t>or  31.5KHz)</a:t>
            </a:r>
          </a:p>
          <a:p>
            <a:r>
              <a:rPr lang="zh-TW" altLang="en-US" dirty="0"/>
              <a:t>垂直</a:t>
            </a:r>
            <a:r>
              <a:rPr lang="zh-TW" altLang="en-US" dirty="0" smtClean="0"/>
              <a:t>時序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時序參數與水平時序相同</a:t>
            </a:r>
            <a:endParaRPr lang="en-US" altLang="zh-TW" dirty="0" smtClean="0"/>
          </a:p>
          <a:p>
            <a:pPr lvl="1"/>
            <a:r>
              <a:rPr lang="zh-TW" altLang="en-US" dirty="0"/>
              <a:t>垂直</a:t>
            </a:r>
            <a:r>
              <a:rPr lang="zh-TW" altLang="en-US" dirty="0" smtClean="0"/>
              <a:t>同步</a:t>
            </a:r>
            <a:r>
              <a:rPr lang="zh-TW" altLang="en-US" dirty="0"/>
              <a:t>時脈</a:t>
            </a:r>
            <a:r>
              <a:rPr lang="zh-TW" altLang="en-US" dirty="0">
                <a:latin typeface="新細明體"/>
                <a:ea typeface="新細明體"/>
              </a:rPr>
              <a:t>、</a:t>
            </a:r>
            <a:r>
              <a:rPr lang="zh-TW" altLang="en-US" dirty="0"/>
              <a:t>同步時脈後沿</a:t>
            </a:r>
            <a:r>
              <a:rPr lang="zh-TW" altLang="en-US" dirty="0">
                <a:latin typeface="新細明體"/>
                <a:ea typeface="新細明體"/>
              </a:rPr>
              <a:t>、</a:t>
            </a:r>
            <a:r>
              <a:rPr lang="zh-TW" altLang="en-US" dirty="0"/>
              <a:t>有效行顯示區域</a:t>
            </a:r>
            <a:r>
              <a:rPr lang="zh-TW" altLang="en-US" dirty="0">
                <a:latin typeface="新細明體"/>
                <a:ea typeface="新細明體"/>
              </a:rPr>
              <a:t>、</a:t>
            </a:r>
            <a:r>
              <a:rPr lang="zh-TW" altLang="en-US" dirty="0"/>
              <a:t>同步時脈前沿</a:t>
            </a:r>
            <a:r>
              <a:rPr lang="en-US" altLang="zh-TW" dirty="0"/>
              <a:t>(</a:t>
            </a:r>
            <a:r>
              <a:rPr lang="en-US" altLang="zh-TW" dirty="0" smtClean="0"/>
              <a:t>2+33+480+10=525)</a:t>
            </a:r>
          </a:p>
          <a:p>
            <a:pPr lvl="1"/>
            <a:r>
              <a:rPr lang="zh-TW" altLang="en-US" dirty="0" smtClean="0"/>
              <a:t>完成一幀掃描</a:t>
            </a:r>
            <a:r>
              <a:rPr lang="zh-TW" altLang="en-US" dirty="0"/>
              <a:t>所需時間</a:t>
            </a:r>
            <a:r>
              <a:rPr lang="zh-TW" altLang="en-US" dirty="0" smtClean="0"/>
              <a:t>稱為</a:t>
            </a:r>
            <a:r>
              <a:rPr lang="zh-TW" altLang="en-US" dirty="0"/>
              <a:t>垂直</a:t>
            </a:r>
            <a:r>
              <a:rPr lang="zh-TW" altLang="en-US" dirty="0" smtClean="0"/>
              <a:t>掃描</a:t>
            </a:r>
            <a:r>
              <a:rPr lang="zh-TW" altLang="en-US" dirty="0"/>
              <a:t>時間，其倒數</a:t>
            </a:r>
            <a:r>
              <a:rPr lang="zh-TW" altLang="en-US" dirty="0" smtClean="0"/>
              <a:t>稱為場頻率</a:t>
            </a:r>
            <a:r>
              <a:rPr lang="en-US" altLang="zh-TW" dirty="0" smtClean="0"/>
              <a:t>(60Hz</a:t>
            </a:r>
            <a:r>
              <a:rPr lang="en-US" altLang="zh-TW" dirty="0"/>
              <a:t>)</a:t>
            </a:r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146290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訊號示意圖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TW" dirty="0" smtClean="0"/>
              <a:t>Sync : </a:t>
            </a:r>
            <a:r>
              <a:rPr lang="zh-TW" altLang="en-US" dirty="0" smtClean="0"/>
              <a:t>同步訊號</a:t>
            </a:r>
            <a:endParaRPr lang="en-US" altLang="zh-TW" dirty="0" smtClean="0"/>
          </a:p>
          <a:p>
            <a:r>
              <a:rPr lang="en-US" altLang="zh-TW" dirty="0" smtClean="0"/>
              <a:t>Back  porch : </a:t>
            </a:r>
            <a:r>
              <a:rPr lang="zh-TW" altLang="en-US" dirty="0" smtClean="0"/>
              <a:t>後沿</a:t>
            </a:r>
            <a:endParaRPr lang="en-US" altLang="zh-TW" dirty="0" smtClean="0"/>
          </a:p>
          <a:p>
            <a:r>
              <a:rPr lang="en-US" altLang="zh-TW" dirty="0" smtClean="0"/>
              <a:t>Front porch : </a:t>
            </a:r>
            <a:r>
              <a:rPr lang="zh-TW" altLang="en-US" dirty="0" smtClean="0"/>
              <a:t>前沿</a:t>
            </a:r>
            <a:endParaRPr lang="en-US" altLang="zh-TW" dirty="0" smtClean="0"/>
          </a:p>
          <a:p>
            <a:r>
              <a:rPr lang="en-US" altLang="zh-TW" dirty="0" smtClean="0"/>
              <a:t>Display : VGA</a:t>
            </a:r>
            <a:r>
              <a:rPr lang="zh-TW" altLang="en-US" dirty="0" smtClean="0"/>
              <a:t>真正顯示的區域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3789040"/>
            <a:ext cx="8265175" cy="2064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854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VGA</a:t>
            </a:r>
            <a:r>
              <a:rPr lang="zh-TW" altLang="en-US" dirty="0" smtClean="0"/>
              <a:t>完整時序圖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TW" dirty="0" smtClean="0"/>
              <a:t>Note : </a:t>
            </a:r>
            <a:r>
              <a:rPr lang="zh-TW" altLang="en-US" dirty="0" smtClean="0"/>
              <a:t>點時脈為</a:t>
            </a:r>
            <a:r>
              <a:rPr lang="en-US" altLang="zh-TW" dirty="0" smtClean="0"/>
              <a:t>525</a:t>
            </a:r>
            <a:r>
              <a:rPr lang="zh-TW" altLang="en-US" dirty="0" smtClean="0"/>
              <a:t>*</a:t>
            </a:r>
            <a:r>
              <a:rPr lang="en-US" altLang="zh-TW" dirty="0" smtClean="0"/>
              <a:t>800</a:t>
            </a:r>
            <a:r>
              <a:rPr lang="zh-TW" altLang="en-US" dirty="0" smtClean="0"/>
              <a:t>*</a:t>
            </a:r>
            <a:r>
              <a:rPr lang="en-US" altLang="zh-TW" dirty="0" smtClean="0"/>
              <a:t>59.94</a:t>
            </a:r>
            <a:r>
              <a:rPr lang="zh-TW" altLang="en-US" dirty="0" smtClean="0"/>
              <a:t>約為</a:t>
            </a:r>
            <a:r>
              <a:rPr lang="en-US" altLang="zh-TW" dirty="0" smtClean="0"/>
              <a:t>25MHz</a:t>
            </a:r>
          </a:p>
          <a:p>
            <a:r>
              <a:rPr lang="en-US" altLang="zh-TW" dirty="0" smtClean="0"/>
              <a:t>VGA</a:t>
            </a:r>
            <a:r>
              <a:rPr lang="zh-TW" altLang="en-US" dirty="0" smtClean="0"/>
              <a:t>對同步信號要求嚴格</a:t>
            </a:r>
            <a:endParaRPr lang="en-US" altLang="zh-TW" dirty="0" smtClean="0"/>
          </a:p>
          <a:p>
            <a:r>
              <a:rPr lang="zh-TW" altLang="en-US" dirty="0"/>
              <a:t>沒有同步好會</a:t>
            </a:r>
            <a:r>
              <a:rPr lang="zh-TW" altLang="en-US" dirty="0" smtClean="0"/>
              <a:t>造成數據遺失或顯示混亂</a:t>
            </a:r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pPr marL="0" indent="0">
              <a:buNone/>
            </a:pPr>
            <a:endParaRPr lang="zh-TW" altLang="en-US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2636912"/>
            <a:ext cx="8208912" cy="3576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226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VGA</a:t>
            </a:r>
            <a:r>
              <a:rPr lang="zh-TW" altLang="en-US" dirty="0" smtClean="0"/>
              <a:t> 顯示方式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TW" altLang="en-US" dirty="0" smtClean="0"/>
              <a:t>由垂直同步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V_sync</a:t>
            </a:r>
            <a:r>
              <a:rPr lang="en-US" altLang="zh-TW" dirty="0" smtClean="0"/>
              <a:t>)</a:t>
            </a:r>
            <a:r>
              <a:rPr lang="zh-TW" altLang="en-US" dirty="0" smtClean="0"/>
              <a:t>拉為低電位開始。</a:t>
            </a:r>
            <a:endParaRPr lang="en-US" altLang="zh-TW" dirty="0" smtClean="0"/>
          </a:p>
          <a:p>
            <a:endParaRPr lang="en-US" altLang="zh-TW" dirty="0"/>
          </a:p>
          <a:p>
            <a:r>
              <a:rPr lang="zh-TW" altLang="en-US" dirty="0" smtClean="0"/>
              <a:t>發起垂直同步後，表示開始掃描畫面，由左上角開始水平掃描。到下一次垂直同步出現，表示掃描結束。</a:t>
            </a:r>
            <a:endParaRPr lang="en-US" altLang="zh-TW" dirty="0" smtClean="0"/>
          </a:p>
          <a:p>
            <a:endParaRPr lang="en-US" altLang="zh-TW" dirty="0"/>
          </a:p>
          <a:p>
            <a:r>
              <a:rPr lang="zh-TW" altLang="en-US" dirty="0" smtClean="0"/>
              <a:t>期間發起</a:t>
            </a:r>
            <a:r>
              <a:rPr lang="en-US" altLang="zh-TW" dirty="0" smtClean="0"/>
              <a:t>525</a:t>
            </a:r>
            <a:r>
              <a:rPr lang="zh-TW" altLang="en-US" dirty="0" smtClean="0"/>
              <a:t>次的水平同步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H_sync</a:t>
            </a:r>
            <a:r>
              <a:rPr lang="en-US" altLang="zh-TW" dirty="0" smtClean="0"/>
              <a:t>)</a:t>
            </a:r>
            <a:r>
              <a:rPr lang="zh-TW" altLang="en-US" dirty="0" smtClean="0"/>
              <a:t>訊號。</a:t>
            </a:r>
            <a:endParaRPr lang="en-US" altLang="zh-TW" dirty="0" smtClean="0"/>
          </a:p>
          <a:p>
            <a:endParaRPr lang="en-US" altLang="zh-TW" dirty="0"/>
          </a:p>
          <a:p>
            <a:r>
              <a:rPr lang="zh-TW" altLang="en-US" dirty="0" smtClean="0"/>
              <a:t>只有中間橘色區域</a:t>
            </a:r>
            <a:r>
              <a:rPr lang="en-US" altLang="zh-TW" dirty="0" smtClean="0"/>
              <a:t>(640</a:t>
            </a:r>
            <a:r>
              <a:rPr lang="zh-TW" altLang="en-US" dirty="0" smtClean="0"/>
              <a:t>*</a:t>
            </a:r>
            <a:r>
              <a:rPr lang="en-US" altLang="zh-TW" dirty="0" smtClean="0"/>
              <a:t>480)</a:t>
            </a:r>
            <a:r>
              <a:rPr lang="zh-TW" altLang="en-US" dirty="0" smtClean="0"/>
              <a:t>會顯示，其他</a:t>
            </a:r>
            <a:r>
              <a:rPr lang="en-US" altLang="zh-TW" dirty="0" smtClean="0"/>
              <a:t>pixel</a:t>
            </a:r>
            <a:r>
              <a:rPr lang="zh-TW" altLang="en-US" dirty="0" smtClean="0"/>
              <a:t>為對齊用。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9648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水平</a:t>
            </a:r>
            <a:r>
              <a:rPr lang="zh-TW" altLang="en-US" dirty="0" smtClean="0"/>
              <a:t>訊號 </a:t>
            </a:r>
            <a:r>
              <a:rPr lang="en-US" altLang="zh-TW" dirty="0" smtClean="0"/>
              <a:t>&amp;</a:t>
            </a:r>
            <a:r>
              <a:rPr lang="zh-TW" altLang="en-US" dirty="0" smtClean="0"/>
              <a:t> </a:t>
            </a:r>
            <a:r>
              <a:rPr lang="zh-TW" altLang="en-US" dirty="0"/>
              <a:t>垂直</a:t>
            </a:r>
            <a:r>
              <a:rPr lang="zh-TW" altLang="en-US" dirty="0" smtClean="0"/>
              <a:t>訊號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836712"/>
            <a:ext cx="5087060" cy="2724530"/>
          </a:xfr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904" y="3501008"/>
            <a:ext cx="5106113" cy="2724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652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同步示意圖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1052736"/>
            <a:ext cx="6802843" cy="5184775"/>
          </a:xfrm>
        </p:spPr>
      </p:pic>
      <p:sp>
        <p:nvSpPr>
          <p:cNvPr id="6" name="文字方塊 5"/>
          <p:cNvSpPr txBox="1"/>
          <p:nvPr/>
        </p:nvSpPr>
        <p:spPr>
          <a:xfrm>
            <a:off x="1547664" y="764704"/>
            <a:ext cx="5544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96	48	</a:t>
            </a:r>
            <a:r>
              <a:rPr lang="zh-TW" altLang="en-US" dirty="0" smtClean="0"/>
              <a:t>  </a:t>
            </a:r>
            <a:r>
              <a:rPr lang="en-US" altLang="zh-TW" dirty="0" smtClean="0"/>
              <a:t>	640		</a:t>
            </a:r>
            <a:r>
              <a:rPr lang="zh-TW" altLang="en-US" dirty="0" smtClean="0"/>
              <a:t>      </a:t>
            </a:r>
            <a:r>
              <a:rPr lang="en-US" altLang="zh-TW" dirty="0" smtClean="0"/>
              <a:t>16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941983" y="1196752"/>
            <a:ext cx="461665" cy="496909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TW" dirty="0" smtClean="0"/>
              <a:t>2</a:t>
            </a:r>
            <a:r>
              <a:rPr lang="zh-TW" altLang="en-US" dirty="0" smtClean="0"/>
              <a:t>    </a:t>
            </a:r>
            <a:r>
              <a:rPr lang="en-US" altLang="zh-TW" dirty="0" smtClean="0"/>
              <a:t>33	</a:t>
            </a:r>
            <a:r>
              <a:rPr lang="zh-TW" altLang="en-US" dirty="0" smtClean="0"/>
              <a:t>              </a:t>
            </a:r>
            <a:r>
              <a:rPr lang="en-US" altLang="zh-TW" dirty="0" smtClean="0"/>
              <a:t>480	</a:t>
            </a:r>
            <a:r>
              <a:rPr lang="zh-TW" altLang="en-US" dirty="0" smtClean="0"/>
              <a:t>              </a:t>
            </a:r>
            <a:r>
              <a:rPr lang="en-US" altLang="zh-TW" dirty="0" smtClean="0"/>
              <a:t>10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79547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endParaRPr lang="en-US" altLang="zh-TW" dirty="0" smtClean="0"/>
          </a:p>
          <a:p>
            <a:pPr marL="0" indent="0">
              <a:buNone/>
            </a:pPr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pPr marL="0" indent="0" algn="ctr">
              <a:buNone/>
            </a:pPr>
            <a:r>
              <a:rPr lang="zh-TW" altLang="en-US" sz="4000" dirty="0" smtClean="0"/>
              <a:t>實做規格 </a:t>
            </a:r>
            <a:r>
              <a:rPr lang="en-US" altLang="zh-TW" sz="4000" dirty="0" smtClean="0"/>
              <a:t>:</a:t>
            </a:r>
            <a:r>
              <a:rPr lang="zh-TW" altLang="en-US" sz="4000" dirty="0" smtClean="0"/>
              <a:t> </a:t>
            </a:r>
            <a:r>
              <a:rPr lang="en-US" altLang="zh-TW" sz="4000" dirty="0" smtClean="0"/>
              <a:t>640</a:t>
            </a:r>
            <a:r>
              <a:rPr lang="zh-TW" altLang="en-US" sz="4000" dirty="0" smtClean="0"/>
              <a:t>*</a:t>
            </a:r>
            <a:r>
              <a:rPr lang="en-US" altLang="zh-TW" sz="4000" dirty="0" smtClean="0"/>
              <a:t>480</a:t>
            </a:r>
            <a:r>
              <a:rPr lang="zh-TW" altLang="en-US" sz="4000" dirty="0" smtClean="0"/>
              <a:t> </a:t>
            </a:r>
            <a:r>
              <a:rPr lang="en-US" altLang="zh-TW" sz="4000" dirty="0" smtClean="0"/>
              <a:t>@</a:t>
            </a:r>
            <a:r>
              <a:rPr lang="zh-TW" altLang="en-US" sz="4000" dirty="0" smtClean="0"/>
              <a:t> </a:t>
            </a:r>
            <a:r>
              <a:rPr lang="en-US" altLang="zh-TW" sz="4000" dirty="0" smtClean="0"/>
              <a:t>60HZ</a:t>
            </a:r>
            <a:endParaRPr lang="zh-TW" altLang="en-US" sz="4000" dirty="0"/>
          </a:p>
        </p:txBody>
      </p:sp>
    </p:spTree>
    <p:extLst>
      <p:ext uri="{BB962C8B-B14F-4D97-AF65-F5344CB8AC3E}">
        <p14:creationId xmlns:p14="http://schemas.microsoft.com/office/powerpoint/2010/main" val="3232022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程式碼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TW" altLang="en-US" dirty="0" smtClean="0"/>
              <a:t>除頻 </a:t>
            </a:r>
            <a:r>
              <a:rPr lang="en-US" altLang="zh-TW" dirty="0" smtClean="0"/>
              <a:t>50MHZ</a:t>
            </a:r>
            <a:r>
              <a:rPr lang="zh-TW" altLang="en-US" dirty="0" smtClean="0"/>
              <a:t> </a:t>
            </a:r>
            <a:r>
              <a:rPr lang="en-US" altLang="zh-TW" dirty="0" smtClean="0"/>
              <a:t>-&gt;</a:t>
            </a:r>
            <a:r>
              <a:rPr lang="zh-TW" altLang="en-US" dirty="0" smtClean="0"/>
              <a:t> </a:t>
            </a:r>
            <a:r>
              <a:rPr lang="en-US" altLang="zh-TW" dirty="0" smtClean="0"/>
              <a:t>25MHZ</a:t>
            </a:r>
          </a:p>
          <a:p>
            <a:r>
              <a:rPr lang="zh-TW" altLang="en-US" dirty="0" smtClean="0"/>
              <a:t>可除任意偶</a:t>
            </a:r>
            <a:r>
              <a:rPr lang="zh-TW" altLang="en-US" dirty="0"/>
              <a:t>數</a:t>
            </a:r>
            <a:endParaRPr lang="en-US" altLang="zh-TW" dirty="0" smtClean="0"/>
          </a:p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17" y="2492896"/>
            <a:ext cx="7161063" cy="2583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2100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程式碼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TW" altLang="en-US" dirty="0" smtClean="0"/>
              <a:t>水平的計數器由</a:t>
            </a:r>
            <a:r>
              <a:rPr lang="en-US" altLang="zh-TW" dirty="0" smtClean="0"/>
              <a:t>25MHZ</a:t>
            </a:r>
            <a:r>
              <a:rPr lang="zh-TW" altLang="en-US" dirty="0" smtClean="0"/>
              <a:t>的</a:t>
            </a:r>
            <a:r>
              <a:rPr lang="en-US" altLang="zh-TW" dirty="0" err="1" smtClean="0"/>
              <a:t>clk</a:t>
            </a:r>
            <a:r>
              <a:rPr lang="zh-TW" altLang="en-US" dirty="0" smtClean="0"/>
              <a:t>觸發</a:t>
            </a:r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r>
              <a:rPr lang="zh-TW" altLang="en-US" dirty="0" smtClean="0"/>
              <a:t>垂直同步觸發後，收到</a:t>
            </a:r>
            <a:r>
              <a:rPr lang="en-US" altLang="zh-TW" dirty="0" smtClean="0"/>
              <a:t>525</a:t>
            </a:r>
            <a:r>
              <a:rPr lang="zh-TW" altLang="en-US" dirty="0" smtClean="0"/>
              <a:t>次水平同步，才會觸發下一次的垂直同步。所以垂直的計數器由水平同步正緣處發。</a:t>
            </a:r>
            <a:endParaRPr lang="en-US" altLang="zh-TW" dirty="0" smtClean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862" y="4365104"/>
            <a:ext cx="7847961" cy="1080120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1" y="1484784"/>
            <a:ext cx="7168069" cy="108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058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程式碼</a:t>
            </a:r>
            <a:endParaRPr lang="zh-TW" altLang="en-US" b="0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764704"/>
            <a:ext cx="6336704" cy="4333875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640" y="5157192"/>
            <a:ext cx="6924675" cy="111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205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程式碼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/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endParaRPr lang="en-US" altLang="zh-TW" dirty="0"/>
          </a:p>
          <a:p>
            <a:endParaRPr lang="zh-TW" altLang="en-US" dirty="0"/>
          </a:p>
          <a:p>
            <a:endParaRPr lang="zh-TW" altLang="en-US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tx1"/>
              </a:solidFill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862" y="4941168"/>
            <a:ext cx="6924675" cy="1114425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961" y="980728"/>
            <a:ext cx="4371975" cy="3528392"/>
          </a:xfrm>
          <a:prstGeom prst="rect">
            <a:avLst/>
          </a:prstGeom>
        </p:spPr>
      </p:pic>
      <p:cxnSp>
        <p:nvCxnSpPr>
          <p:cNvPr id="8" name="直線單箭頭接點 7"/>
          <p:cNvCxnSpPr/>
          <p:nvPr/>
        </p:nvCxnSpPr>
        <p:spPr>
          <a:xfrm flipH="1">
            <a:off x="827584" y="2744924"/>
            <a:ext cx="504056" cy="21962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/>
          <p:nvPr/>
        </p:nvCxnSpPr>
        <p:spPr>
          <a:xfrm>
            <a:off x="611560" y="4941168"/>
            <a:ext cx="43204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/>
          <p:nvPr/>
        </p:nvCxnSpPr>
        <p:spPr>
          <a:xfrm>
            <a:off x="1403648" y="3645024"/>
            <a:ext cx="72008" cy="10801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/>
          <p:nvPr/>
        </p:nvCxnSpPr>
        <p:spPr>
          <a:xfrm>
            <a:off x="611560" y="4797152"/>
            <a:ext cx="568863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/>
          <p:nvPr/>
        </p:nvCxnSpPr>
        <p:spPr>
          <a:xfrm>
            <a:off x="1835696" y="3789040"/>
            <a:ext cx="1728192" cy="7200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/>
          <p:nvPr/>
        </p:nvCxnSpPr>
        <p:spPr>
          <a:xfrm>
            <a:off x="2123728" y="4509120"/>
            <a:ext cx="4176464" cy="3544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8769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程式碼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TW" dirty="0" smtClean="0"/>
          </a:p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047407"/>
            <a:ext cx="4176464" cy="3137675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715" y="5050879"/>
            <a:ext cx="6924675" cy="1114425"/>
          </a:xfrm>
          <a:prstGeom prst="rect">
            <a:avLst/>
          </a:prstGeom>
        </p:spPr>
      </p:pic>
      <p:cxnSp>
        <p:nvCxnSpPr>
          <p:cNvPr id="7" name="直線單箭頭接點 6"/>
          <p:cNvCxnSpPr/>
          <p:nvPr/>
        </p:nvCxnSpPr>
        <p:spPr>
          <a:xfrm flipH="1">
            <a:off x="827584" y="2492896"/>
            <a:ext cx="576064" cy="25579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單箭頭接點 8"/>
          <p:cNvCxnSpPr/>
          <p:nvPr/>
        </p:nvCxnSpPr>
        <p:spPr>
          <a:xfrm>
            <a:off x="1403648" y="3356992"/>
            <a:ext cx="72008" cy="15121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/>
          <p:nvPr/>
        </p:nvCxnSpPr>
        <p:spPr>
          <a:xfrm>
            <a:off x="1907704" y="3501008"/>
            <a:ext cx="1584176" cy="12241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/>
          <p:nvPr/>
        </p:nvCxnSpPr>
        <p:spPr>
          <a:xfrm>
            <a:off x="611560" y="5141738"/>
            <a:ext cx="43204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/>
          <p:nvPr/>
        </p:nvCxnSpPr>
        <p:spPr>
          <a:xfrm>
            <a:off x="647564" y="4941168"/>
            <a:ext cx="568863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9" name="直線單箭頭接點 28"/>
          <p:cNvCxnSpPr/>
          <p:nvPr/>
        </p:nvCxnSpPr>
        <p:spPr>
          <a:xfrm>
            <a:off x="2123728" y="4725144"/>
            <a:ext cx="417646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4575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程式碼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TW" altLang="en-US" dirty="0" smtClean="0"/>
              <a:t>在</a:t>
            </a:r>
            <a:r>
              <a:rPr lang="en-US" altLang="zh-TW" dirty="0" smtClean="0"/>
              <a:t>X</a:t>
            </a:r>
            <a:r>
              <a:rPr lang="zh-TW" altLang="en-US" dirty="0"/>
              <a:t>介</a:t>
            </a:r>
            <a:r>
              <a:rPr lang="zh-TW" altLang="en-US" dirty="0" smtClean="0"/>
              <a:t>於</a:t>
            </a:r>
            <a:r>
              <a:rPr lang="en-US" altLang="zh-TW" dirty="0" smtClean="0"/>
              <a:t>0~640</a:t>
            </a:r>
            <a:r>
              <a:rPr lang="zh-TW" altLang="en-US" dirty="0" smtClean="0"/>
              <a:t>，</a:t>
            </a:r>
            <a:r>
              <a:rPr lang="en-US" altLang="zh-TW" dirty="0" smtClean="0"/>
              <a:t>Y</a:t>
            </a:r>
            <a:r>
              <a:rPr lang="zh-TW" altLang="en-US" dirty="0" smtClean="0"/>
              <a:t>介於</a:t>
            </a:r>
            <a:r>
              <a:rPr lang="en-US" altLang="zh-TW" dirty="0" smtClean="0"/>
              <a:t>0~480</a:t>
            </a:r>
            <a:r>
              <a:rPr lang="zh-TW" altLang="en-US" dirty="0" smtClean="0"/>
              <a:t>，顯示</a:t>
            </a:r>
            <a:r>
              <a:rPr lang="en-US" altLang="zh-TW" dirty="0" smtClean="0"/>
              <a:t>640</a:t>
            </a:r>
            <a:r>
              <a:rPr lang="zh-TW" altLang="en-US" dirty="0" smtClean="0"/>
              <a:t>*</a:t>
            </a:r>
            <a:r>
              <a:rPr lang="en-US" altLang="zh-TW" dirty="0" smtClean="0"/>
              <a:t>480pixel</a:t>
            </a:r>
            <a:r>
              <a:rPr lang="zh-TW" altLang="en-US" dirty="0" smtClean="0"/>
              <a:t>的白色畫面</a:t>
            </a:r>
            <a:endParaRPr lang="en-US" altLang="zh-TW" dirty="0" smtClean="0"/>
          </a:p>
          <a:p>
            <a:endParaRPr lang="en-US" altLang="zh-TW" dirty="0"/>
          </a:p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2420888"/>
            <a:ext cx="5690020" cy="1483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612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Demo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 smtClean="0"/>
              <a:t>		</a:t>
            </a:r>
            <a:r>
              <a:rPr lang="zh-TW" altLang="en-US" dirty="0" smtClean="0"/>
              <a:t>   在螢幕上顯示下列圖案</a:t>
            </a: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 smtClean="0"/>
              <a:t>	</a:t>
            </a:r>
            <a:r>
              <a:rPr lang="zh-TW" altLang="en-US" dirty="0" smtClean="0"/>
              <a:t>   </a:t>
            </a:r>
            <a:r>
              <a:rPr lang="en-US" altLang="zh-TW" dirty="0" smtClean="0"/>
              <a:t>				</a:t>
            </a:r>
            <a:r>
              <a:rPr lang="zh-TW" altLang="en-US" dirty="0" smtClean="0"/>
              <a:t>   </a:t>
            </a:r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939" y="1556792"/>
            <a:ext cx="6096851" cy="4572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934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作業</a:t>
            </a:r>
            <a:r>
              <a:rPr lang="en-US" altLang="zh-TW" dirty="0" smtClean="0"/>
              <a:t>(</a:t>
            </a:r>
            <a:r>
              <a:rPr lang="zh-TW" altLang="en-US" dirty="0" smtClean="0"/>
              <a:t>下午班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 smtClean="0"/>
              <a:t>1.</a:t>
            </a:r>
            <a:r>
              <a:rPr lang="zh-TW" altLang="en-US" dirty="0" smtClean="0"/>
              <a:t>顯示以下圖案於螢幕</a:t>
            </a:r>
            <a:endParaRPr lang="en-US" altLang="zh-TW" dirty="0" smtClean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1556792"/>
            <a:ext cx="7487196" cy="439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2610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作業</a:t>
            </a:r>
            <a:r>
              <a:rPr lang="en-US" altLang="zh-TW" dirty="0"/>
              <a:t>(</a:t>
            </a:r>
            <a:r>
              <a:rPr lang="zh-TW" altLang="en-US" dirty="0"/>
              <a:t>下午班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/>
              <a:t>2</a:t>
            </a:r>
            <a:r>
              <a:rPr lang="en-US" altLang="zh-TW" dirty="0" smtClean="0"/>
              <a:t>.</a:t>
            </a:r>
            <a:r>
              <a:rPr lang="zh-TW" altLang="en-US" dirty="0" smtClean="0"/>
              <a:t>按下最左邊的按鈕，螢幕顯示</a:t>
            </a:r>
            <a:r>
              <a:rPr lang="zh-TW" altLang="en-US" dirty="0"/>
              <a:t>自己的學號末兩碼</a:t>
            </a:r>
            <a:r>
              <a:rPr lang="zh-TW" altLang="en-US" dirty="0" smtClean="0"/>
              <a:t>，  男生</a:t>
            </a:r>
            <a:r>
              <a:rPr lang="zh-TW" altLang="en-US" dirty="0"/>
              <a:t>青綠色，女生</a:t>
            </a:r>
            <a:r>
              <a:rPr lang="zh-TW" altLang="en-US" dirty="0" smtClean="0"/>
              <a:t>洋紅色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2132856"/>
            <a:ext cx="6516216" cy="3822847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2132856"/>
            <a:ext cx="6516216" cy="3822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3065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作業</a:t>
            </a:r>
            <a:r>
              <a:rPr lang="en-US" altLang="zh-TW" dirty="0" smtClean="0"/>
              <a:t>(</a:t>
            </a:r>
            <a:r>
              <a:rPr lang="zh-TW" altLang="en-US" dirty="0" smtClean="0"/>
              <a:t>晚上班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/>
              <a:t>1.</a:t>
            </a:r>
            <a:r>
              <a:rPr lang="zh-TW" altLang="en-US" dirty="0"/>
              <a:t>顯示以下圖案於螢幕</a:t>
            </a:r>
            <a:endParaRPr lang="en-US" altLang="zh-TW" dirty="0"/>
          </a:p>
          <a:p>
            <a:pPr marL="0" indent="0">
              <a:buNone/>
            </a:pP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1568962"/>
            <a:ext cx="7740352" cy="4541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290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作業</a:t>
            </a:r>
            <a:r>
              <a:rPr lang="en-US" altLang="zh-TW" dirty="0" smtClean="0"/>
              <a:t>(</a:t>
            </a:r>
            <a:r>
              <a:rPr lang="zh-TW" altLang="en-US" dirty="0" smtClean="0"/>
              <a:t>晚上班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/>
              <a:t>2.</a:t>
            </a:r>
            <a:r>
              <a:rPr lang="zh-TW" altLang="en-US" dirty="0"/>
              <a:t>按下最左邊的按鈕，螢幕顯示自己的學號末兩碼，  男生青綠色，女生洋紅色</a:t>
            </a:r>
          </a:p>
          <a:p>
            <a:pPr marL="0" indent="0">
              <a:buNone/>
            </a:pP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2147255"/>
            <a:ext cx="6480720" cy="3802023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2147255"/>
            <a:ext cx="6480720" cy="3802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9386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顏色對照表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TW" dirty="0" smtClean="0"/>
          </a:p>
          <a:p>
            <a:endParaRPr lang="en-US" altLang="zh-TW" dirty="0"/>
          </a:p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51" y="1618997"/>
            <a:ext cx="8935698" cy="3620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661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行雲流水">
      <a:dk1>
        <a:sysClr val="windowText" lastClr="000000"/>
      </a:dk1>
      <a:lt1>
        <a:sysClr val="window" lastClr="FFFFFF"/>
      </a:lt1>
      <a:dk2>
        <a:srgbClr val="411401"/>
      </a:dk2>
      <a:lt2>
        <a:srgbClr val="FFE6E6"/>
      </a:lt2>
      <a:accent1>
        <a:srgbClr val="A24A48"/>
      </a:accent1>
      <a:accent2>
        <a:srgbClr val="B2935C"/>
      </a:accent2>
      <a:accent3>
        <a:srgbClr val="6A9A9A"/>
      </a:accent3>
      <a:accent4>
        <a:srgbClr val="B2B787"/>
      </a:accent4>
      <a:accent5>
        <a:srgbClr val="91644B"/>
      </a:accent5>
      <a:accent6>
        <a:srgbClr val="654A76"/>
      </a:accent6>
      <a:hlink>
        <a:srgbClr val="00A800"/>
      </a:hlink>
      <a:folHlink>
        <a:srgbClr val="FF00FF"/>
      </a:folHlink>
    </a:clrScheme>
    <a:fontScheme name="NewsPrint">
      <a:majorFont>
        <a:latin typeface="Impact"/>
        <a:ea typeface=""/>
        <a:cs typeface=""/>
        <a:font script="Jpan" typeface="HGP創英角ｺﾞｼｯｸUB"/>
        <a:font script="Hang" typeface="HY견고딕"/>
        <a:font script="Hans" typeface="微软雅黑"/>
        <a:font script="Hant" typeface="微軟正黑體"/>
        <a:font script="Arab" typeface="Tahoma"/>
        <a:font script="Hebr" typeface="To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6900</TotalTime>
  <Words>608</Words>
  <Application>Microsoft Office PowerPoint</Application>
  <PresentationFormat>如螢幕大小 (4:3)</PresentationFormat>
  <Paragraphs>103</Paragraphs>
  <Slides>22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22</vt:i4>
      </vt:variant>
    </vt:vector>
  </HeadingPairs>
  <TitlesOfParts>
    <vt:vector size="32" baseType="lpstr">
      <vt:lpstr>Arial Unicode MS</vt:lpstr>
      <vt:lpstr>微軟正黑體</vt:lpstr>
      <vt:lpstr>新細明體</vt:lpstr>
      <vt:lpstr>標楷體</vt:lpstr>
      <vt:lpstr>Arial</vt:lpstr>
      <vt:lpstr>Arial Black</vt:lpstr>
      <vt:lpstr>Calibri</vt:lpstr>
      <vt:lpstr>Impact</vt:lpstr>
      <vt:lpstr>Times New Roman</vt:lpstr>
      <vt:lpstr>Office 佈景主題</vt:lpstr>
      <vt:lpstr>PowerPoint 簡報</vt:lpstr>
      <vt:lpstr>VGA簡介</vt:lpstr>
      <vt:lpstr>VGA掃描原理</vt:lpstr>
      <vt:lpstr>VGA時序 (640*480@60Hz)</vt:lpstr>
      <vt:lpstr>訊號示意圖</vt:lpstr>
      <vt:lpstr>VGA完整時序圖</vt:lpstr>
      <vt:lpstr>VGA 顯示方式</vt:lpstr>
      <vt:lpstr>水平訊號 &amp; 垂直訊號</vt:lpstr>
      <vt:lpstr>同步示意圖</vt:lpstr>
      <vt:lpstr> </vt:lpstr>
      <vt:lpstr>程式碼</vt:lpstr>
      <vt:lpstr>程式碼</vt:lpstr>
      <vt:lpstr>程式碼</vt:lpstr>
      <vt:lpstr>程式碼</vt:lpstr>
      <vt:lpstr>程式碼</vt:lpstr>
      <vt:lpstr>程式碼</vt:lpstr>
      <vt:lpstr>Demo</vt:lpstr>
      <vt:lpstr>作業(下午班)</vt:lpstr>
      <vt:lpstr>作業(下午班)</vt:lpstr>
      <vt:lpstr>作業(晚上班)</vt:lpstr>
      <vt:lpstr>作業(晚上班)</vt:lpstr>
      <vt:lpstr>顏色對照表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Windows 使用者</cp:lastModifiedBy>
  <cp:revision>662</cp:revision>
  <dcterms:created xsi:type="dcterms:W3CDTF">2012-06-07T06:52:04Z</dcterms:created>
  <dcterms:modified xsi:type="dcterms:W3CDTF">2018-05-28T08:33:27Z</dcterms:modified>
</cp:coreProperties>
</file>